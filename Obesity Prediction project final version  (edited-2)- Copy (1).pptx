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4"/>
  </p:sldMasterIdLst>
  <p:sldIdLst>
    <p:sldId id="256" r:id="rId5"/>
    <p:sldId id="258" r:id="rId6"/>
    <p:sldId id="259" r:id="rId7"/>
    <p:sldId id="260" r:id="rId8"/>
    <p:sldId id="261" r:id="rId9"/>
    <p:sldId id="262" r:id="rId10"/>
    <p:sldId id="264" r:id="rId11"/>
    <p:sldId id="263" r:id="rId12"/>
    <p:sldId id="274" r:id="rId13"/>
    <p:sldId id="265" r:id="rId14"/>
    <p:sldId id="266" r:id="rId15"/>
    <p:sldId id="267" r:id="rId16"/>
    <p:sldId id="268" r:id="rId17"/>
    <p:sldId id="275" r:id="rId18"/>
    <p:sldId id="276" r:id="rId19"/>
    <p:sldId id="277" r:id="rId20"/>
    <p:sldId id="278" r:id="rId21"/>
    <p:sldId id="286" r:id="rId22"/>
    <p:sldId id="287" r:id="rId23"/>
    <p:sldId id="279" r:id="rId24"/>
    <p:sldId id="280" r:id="rId25"/>
    <p:sldId id="281" r:id="rId26"/>
    <p:sldId id="282" r:id="rId27"/>
    <p:sldId id="283" r:id="rId28"/>
    <p:sldId id="284" r:id="rId29"/>
    <p:sldId id="285" r:id="rId30"/>
    <p:sldId id="269" r:id="rId31"/>
    <p:sldId id="270" r:id="rId32"/>
    <p:sldId id="271" r:id="rId33"/>
    <p:sldId id="272" r:id="rId34"/>
    <p:sldId id="273"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3211E7-CA02-43C0-AFE5-EC59F6CB3C6E}" v="38" dt="2025-05-18T01:40:22.4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48" autoAdjust="0"/>
    <p:restoredTop sz="94660"/>
  </p:normalViewPr>
  <p:slideViewPr>
    <p:cSldViewPr snapToGrid="0">
      <p:cViewPr varScale="1">
        <p:scale>
          <a:sx n="87" d="100"/>
          <a:sy n="87" d="100"/>
        </p:scale>
        <p:origin x="127"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F50B8E-A176-49F2-A3C1-FEDA0200170B}" type="datetime2">
              <a:rPr lang="en-US" smtClean="0"/>
              <a:t>Sunday, May 18, 2025</a:t>
            </a:fld>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7BE69E03-4804-4553-A1EC-F089884EF50F}" type="slidenum">
              <a:rPr lang="en-US" smtClean="0"/>
              <a:t>‹#›</a:t>
            </a:fld>
            <a:endParaRPr lang="en-US" dirty="0"/>
          </a:p>
        </p:txBody>
      </p:sp>
    </p:spTree>
    <p:extLst>
      <p:ext uri="{BB962C8B-B14F-4D97-AF65-F5344CB8AC3E}">
        <p14:creationId xmlns:p14="http://schemas.microsoft.com/office/powerpoint/2010/main" val="465324020"/>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7BE69E03-4804-4553-A1EC-F089884EF50F}" type="slidenum">
              <a:rPr lang="en-US" smtClean="0"/>
              <a:t>‹#›</a:t>
            </a:fld>
            <a:endParaRPr lang="en-US" dirty="0"/>
          </a:p>
        </p:txBody>
      </p:sp>
    </p:spTree>
    <p:extLst>
      <p:ext uri="{BB962C8B-B14F-4D97-AF65-F5344CB8AC3E}">
        <p14:creationId xmlns:p14="http://schemas.microsoft.com/office/powerpoint/2010/main" val="191185907"/>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57292D-4609-4E55-92E3-C12C6A1234E8}" type="datetime2">
              <a:rPr lang="en-US" smtClean="0"/>
              <a:t>Sunday, May 18, 2025</a:t>
            </a:fld>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7BE69E03-4804-4553-A1EC-F089884EF50F}" type="slidenum">
              <a:rPr lang="en-US" smtClean="0"/>
              <a:t>‹#›</a:t>
            </a:fld>
            <a:endParaRPr lang="en-US" dirty="0"/>
          </a:p>
        </p:txBody>
      </p:sp>
    </p:spTree>
    <p:extLst>
      <p:ext uri="{BB962C8B-B14F-4D97-AF65-F5344CB8AC3E}">
        <p14:creationId xmlns:p14="http://schemas.microsoft.com/office/powerpoint/2010/main" val="4007883961"/>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03E0E29-2C79-4A2A-B61C-A21B8362A50A}" type="datetime2">
              <a:rPr lang="en-US" smtClean="0"/>
              <a:t>Sunday, May 18, 2025</a:t>
            </a:fld>
            <a:endParaRPr lang="en-US" dirty="0"/>
          </a:p>
        </p:txBody>
      </p:sp>
      <p:sp>
        <p:nvSpPr>
          <p:cNvPr id="6" name="Footer Placeholder 5"/>
          <p:cNvSpPr>
            <a:spLocks noGrp="1"/>
          </p:cNvSpPr>
          <p:nvPr>
            <p:ph type="ftr" sz="quarter" idx="11"/>
          </p:nvPr>
        </p:nvSpPr>
        <p:spPr/>
        <p:txBody>
          <a:bodyPr/>
          <a:lstStyle/>
          <a:p>
            <a:r>
              <a:rPr lang="en-US" dirty="0"/>
              <a:t>Sample Footer Text</a:t>
            </a:r>
          </a:p>
        </p:txBody>
      </p:sp>
      <p:sp>
        <p:nvSpPr>
          <p:cNvPr id="7" name="Slide Number Placeholder 6"/>
          <p:cNvSpPr>
            <a:spLocks noGrp="1"/>
          </p:cNvSpPr>
          <p:nvPr>
            <p:ph type="sldNum" sz="quarter" idx="12"/>
          </p:nvPr>
        </p:nvSpPr>
        <p:spPr/>
        <p:txBody>
          <a:bodyPr/>
          <a:lstStyle/>
          <a:p>
            <a:fld id="{7BE69E03-4804-4553-A1EC-F089884EF50F}" type="slidenum">
              <a:rPr lang="en-US" smtClean="0"/>
              <a:t>‹#›</a:t>
            </a:fld>
            <a:endParaRPr lang="en-US" dirty="0"/>
          </a:p>
        </p:txBody>
      </p:sp>
    </p:spTree>
    <p:extLst>
      <p:ext uri="{BB962C8B-B14F-4D97-AF65-F5344CB8AC3E}">
        <p14:creationId xmlns:p14="http://schemas.microsoft.com/office/powerpoint/2010/main" val="1457385893"/>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CA0177-5432-41AC-9593-8EC96BFF4F82}" type="datetime2">
              <a:rPr lang="en-US" smtClean="0"/>
              <a:t>Sunday, May 18, 2025</a:t>
            </a:fld>
            <a:endParaRPr lang="en-US" dirty="0"/>
          </a:p>
        </p:txBody>
      </p:sp>
      <p:sp>
        <p:nvSpPr>
          <p:cNvPr id="8" name="Footer Placeholder 7"/>
          <p:cNvSpPr>
            <a:spLocks noGrp="1"/>
          </p:cNvSpPr>
          <p:nvPr>
            <p:ph type="ftr" sz="quarter" idx="11"/>
          </p:nvPr>
        </p:nvSpPr>
        <p:spPr/>
        <p:txBody>
          <a:bodyPr/>
          <a:lstStyle/>
          <a:p>
            <a:r>
              <a:rPr lang="en-US" dirty="0"/>
              <a:t>Sample Footer Text</a:t>
            </a:r>
          </a:p>
        </p:txBody>
      </p:sp>
      <p:sp>
        <p:nvSpPr>
          <p:cNvPr id="9" name="Slide Number Placeholder 8"/>
          <p:cNvSpPr>
            <a:spLocks noGrp="1"/>
          </p:cNvSpPr>
          <p:nvPr>
            <p:ph type="sldNum" sz="quarter" idx="12"/>
          </p:nvPr>
        </p:nvSpPr>
        <p:spPr/>
        <p:txBody>
          <a:bodyPr/>
          <a:lstStyle/>
          <a:p>
            <a:fld id="{7BE69E03-4804-4553-A1EC-F089884EF50F}" type="slidenum">
              <a:rPr lang="en-US" smtClean="0"/>
              <a:t>‹#›</a:t>
            </a:fld>
            <a:endParaRPr lang="en-US" dirty="0"/>
          </a:p>
        </p:txBody>
      </p:sp>
    </p:spTree>
    <p:extLst>
      <p:ext uri="{BB962C8B-B14F-4D97-AF65-F5344CB8AC3E}">
        <p14:creationId xmlns:p14="http://schemas.microsoft.com/office/powerpoint/2010/main" val="1276924706"/>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ED29A7B-B2F1-41A3-B969-4E25F618B967}" type="datetime2">
              <a:rPr lang="en-US" smtClean="0"/>
              <a:t>Sunday, May 18, 2025</a:t>
            </a:fld>
            <a:endParaRPr lang="en-US" dirty="0"/>
          </a:p>
        </p:txBody>
      </p:sp>
      <p:sp>
        <p:nvSpPr>
          <p:cNvPr id="5" name="Footer Placeholder 3"/>
          <p:cNvSpPr>
            <a:spLocks noGrp="1"/>
          </p:cNvSpPr>
          <p:nvPr>
            <p:ph type="ftr" sz="quarter" idx="11"/>
          </p:nvPr>
        </p:nvSpPr>
        <p:spPr/>
        <p:txBody>
          <a:bodyPr/>
          <a:lstStyle/>
          <a:p>
            <a:r>
              <a:rPr lang="en-US" dirty="0"/>
              <a:t>Sample Footer Text</a:t>
            </a:r>
          </a:p>
        </p:txBody>
      </p:sp>
      <p:sp>
        <p:nvSpPr>
          <p:cNvPr id="6" name="Slide Number Placeholder 4"/>
          <p:cNvSpPr>
            <a:spLocks noGrp="1"/>
          </p:cNvSpPr>
          <p:nvPr>
            <p:ph type="sldNum" sz="quarter" idx="12"/>
          </p:nvPr>
        </p:nvSpPr>
        <p:spPr/>
        <p:txBody>
          <a:bodyPr/>
          <a:lstStyle/>
          <a:p>
            <a:fld id="{7BE69E03-4804-4553-A1EC-F089884EF50F}" type="slidenum">
              <a:rPr lang="en-US" smtClean="0"/>
              <a:t>‹#›</a:t>
            </a:fld>
            <a:endParaRPr lang="en-US" dirty="0"/>
          </a:p>
        </p:txBody>
      </p:sp>
    </p:spTree>
    <p:extLst>
      <p:ext uri="{BB962C8B-B14F-4D97-AF65-F5344CB8AC3E}">
        <p14:creationId xmlns:p14="http://schemas.microsoft.com/office/powerpoint/2010/main" val="4202964909"/>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EE98B79-F222-4FD1-8713-07459E1B5004}" type="datetime2">
              <a:rPr lang="en-US" smtClean="0"/>
              <a:t>Sunday, May 18, 2025</a:t>
            </a:fld>
            <a:endParaRPr lang="en-US" dirty="0"/>
          </a:p>
        </p:txBody>
      </p:sp>
      <p:sp>
        <p:nvSpPr>
          <p:cNvPr id="5" name="Footer Placeholder 2"/>
          <p:cNvSpPr>
            <a:spLocks noGrp="1"/>
          </p:cNvSpPr>
          <p:nvPr>
            <p:ph type="ftr" sz="quarter" idx="11"/>
          </p:nvPr>
        </p:nvSpPr>
        <p:spPr/>
        <p:txBody>
          <a:bodyPr/>
          <a:lstStyle/>
          <a:p>
            <a:r>
              <a:rPr lang="en-US" dirty="0"/>
              <a:t>Sample Footer Text</a:t>
            </a:r>
          </a:p>
        </p:txBody>
      </p:sp>
      <p:sp>
        <p:nvSpPr>
          <p:cNvPr id="6" name="Slide Number Placeholder 3"/>
          <p:cNvSpPr>
            <a:spLocks noGrp="1"/>
          </p:cNvSpPr>
          <p:nvPr>
            <p:ph type="sldNum" sz="quarter" idx="12"/>
          </p:nvPr>
        </p:nvSpPr>
        <p:spPr/>
        <p:txBody>
          <a:bodyPr/>
          <a:lstStyle/>
          <a:p>
            <a:fld id="{7BE69E03-4804-4553-A1EC-F089884EF50F}" type="slidenum">
              <a:rPr lang="en-US" smtClean="0"/>
              <a:t>‹#›</a:t>
            </a:fld>
            <a:endParaRPr lang="en-US" dirty="0"/>
          </a:p>
        </p:txBody>
      </p:sp>
    </p:spTree>
    <p:extLst>
      <p:ext uri="{BB962C8B-B14F-4D97-AF65-F5344CB8AC3E}">
        <p14:creationId xmlns:p14="http://schemas.microsoft.com/office/powerpoint/2010/main" val="1726461904"/>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792630FD-0818-4065-B5FE-410552D9B1BC}" type="datetime2">
              <a:rPr lang="en-US" smtClean="0"/>
              <a:t>Sunday, May 18, 2025</a:t>
            </a:fld>
            <a:endParaRPr lang="en-US" dirty="0"/>
          </a:p>
        </p:txBody>
      </p:sp>
      <p:sp>
        <p:nvSpPr>
          <p:cNvPr id="5" name="Footer Placeholder 5"/>
          <p:cNvSpPr>
            <a:spLocks noGrp="1"/>
          </p:cNvSpPr>
          <p:nvPr>
            <p:ph type="ftr" sz="quarter" idx="11"/>
          </p:nvPr>
        </p:nvSpPr>
        <p:spPr/>
        <p:txBody>
          <a:bodyPr/>
          <a:lstStyle/>
          <a:p>
            <a:r>
              <a:rPr lang="en-US" dirty="0"/>
              <a:t>Sample Footer Text</a:t>
            </a:r>
          </a:p>
        </p:txBody>
      </p:sp>
      <p:sp>
        <p:nvSpPr>
          <p:cNvPr id="6" name="Slide Number Placeholder 6"/>
          <p:cNvSpPr>
            <a:spLocks noGrp="1"/>
          </p:cNvSpPr>
          <p:nvPr>
            <p:ph type="sldNum" sz="quarter" idx="12"/>
          </p:nvPr>
        </p:nvSpPr>
        <p:spPr/>
        <p:txBody>
          <a:bodyPr/>
          <a:lstStyle/>
          <a:p>
            <a:fld id="{7BE69E03-4804-4553-A1EC-F089884EF50F}" type="slidenum">
              <a:rPr lang="en-US" smtClean="0"/>
              <a:t>‹#›</a:t>
            </a:fld>
            <a:endParaRPr lang="en-US" dirty="0"/>
          </a:p>
        </p:txBody>
      </p:sp>
    </p:spTree>
    <p:extLst>
      <p:ext uri="{BB962C8B-B14F-4D97-AF65-F5344CB8AC3E}">
        <p14:creationId xmlns:p14="http://schemas.microsoft.com/office/powerpoint/2010/main" val="3255923255"/>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C2D289-0EBF-40C7-B6E8-60285281F180}" type="datetime2">
              <a:rPr lang="en-US" smtClean="0"/>
              <a:t>Sunday, May 18, 2025</a:t>
            </a:fld>
            <a:endParaRPr lang="en-US" dirty="0"/>
          </a:p>
        </p:txBody>
      </p:sp>
      <p:sp>
        <p:nvSpPr>
          <p:cNvPr id="6" name="Footer Placeholder 5"/>
          <p:cNvSpPr>
            <a:spLocks noGrp="1"/>
          </p:cNvSpPr>
          <p:nvPr>
            <p:ph type="ftr" sz="quarter" idx="11"/>
          </p:nvPr>
        </p:nvSpPr>
        <p:spPr/>
        <p:txBody>
          <a:bodyPr/>
          <a:lstStyle/>
          <a:p>
            <a:r>
              <a:rPr lang="en-US" dirty="0"/>
              <a:t>Sample Footer Text</a:t>
            </a:r>
          </a:p>
        </p:txBody>
      </p:sp>
      <p:sp>
        <p:nvSpPr>
          <p:cNvPr id="7" name="Slide Number Placeholder 6"/>
          <p:cNvSpPr>
            <a:spLocks noGrp="1"/>
          </p:cNvSpPr>
          <p:nvPr>
            <p:ph type="sldNum" sz="quarter" idx="12"/>
          </p:nvPr>
        </p:nvSpPr>
        <p:spPr/>
        <p:txBody>
          <a:bodyPr/>
          <a:lstStyle/>
          <a:p>
            <a:fld id="{7BE69E03-4804-4553-A1EC-F089884EF50F}" type="slidenum">
              <a:rPr lang="en-US" smtClean="0"/>
              <a:t>‹#›</a:t>
            </a:fld>
            <a:endParaRPr lang="en-US" dirty="0"/>
          </a:p>
        </p:txBody>
      </p:sp>
    </p:spTree>
    <p:extLst>
      <p:ext uri="{BB962C8B-B14F-4D97-AF65-F5344CB8AC3E}">
        <p14:creationId xmlns:p14="http://schemas.microsoft.com/office/powerpoint/2010/main" val="2771263829"/>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CDC665-7415-4DAF-AE09-B9BBC1907393}" type="datetime2">
              <a:rPr lang="en-US" smtClean="0"/>
              <a:t>Sunday, May 18, 2025</a:t>
            </a:fld>
            <a:endParaRPr lang="en-US" dirty="0"/>
          </a:p>
        </p:txBody>
      </p:sp>
      <p:sp>
        <p:nvSpPr>
          <p:cNvPr id="6" name="Footer Placeholder 5"/>
          <p:cNvSpPr>
            <a:spLocks noGrp="1"/>
          </p:cNvSpPr>
          <p:nvPr>
            <p:ph type="ftr" sz="quarter" idx="11"/>
          </p:nvPr>
        </p:nvSpPr>
        <p:spPr/>
        <p:txBody>
          <a:bodyPr/>
          <a:lstStyle/>
          <a:p>
            <a:r>
              <a:rPr lang="en-US" dirty="0"/>
              <a:t>Sample Footer Text</a:t>
            </a:r>
          </a:p>
        </p:txBody>
      </p:sp>
      <p:sp>
        <p:nvSpPr>
          <p:cNvPr id="7" name="Slide Number Placeholder 6"/>
          <p:cNvSpPr>
            <a:spLocks noGrp="1"/>
          </p:cNvSpPr>
          <p:nvPr>
            <p:ph type="sldNum" sz="quarter" idx="12"/>
          </p:nvPr>
        </p:nvSpPr>
        <p:spPr/>
        <p:txBody>
          <a:bodyPr/>
          <a:lstStyle/>
          <a:p>
            <a:fld id="{7BE69E03-4804-4553-A1EC-F089884EF50F}" type="slidenum">
              <a:rPr lang="en-US" smtClean="0"/>
              <a:t>‹#›</a:t>
            </a:fld>
            <a:endParaRPr lang="en-US" dirty="0"/>
          </a:p>
        </p:txBody>
      </p:sp>
    </p:spTree>
    <p:extLst>
      <p:ext uri="{BB962C8B-B14F-4D97-AF65-F5344CB8AC3E}">
        <p14:creationId xmlns:p14="http://schemas.microsoft.com/office/powerpoint/2010/main" val="1426529626"/>
      </p:ext>
    </p:extLst>
  </p:cSld>
  <p:clrMapOvr>
    <a:masterClrMapping/>
  </p:clrMapOvr>
  <p:transition spd="slow">
    <p:wipe/>
  </p:transition>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4CDC665-7415-4DAF-AE09-B9BBC1907393}" type="datetime2">
              <a:rPr lang="en-US" smtClean="0"/>
              <a:t>Sunday, May 18, 2025</a:t>
            </a:fld>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7BE69E03-4804-4553-A1EC-F089884EF50F}" type="slidenum">
              <a:rPr lang="en-US" smtClean="0"/>
              <a:t>‹#›</a:t>
            </a:fld>
            <a:endParaRPr lang="en-US" dirty="0"/>
          </a:p>
        </p:txBody>
      </p:sp>
    </p:spTree>
    <p:extLst>
      <p:ext uri="{BB962C8B-B14F-4D97-AF65-F5344CB8AC3E}">
        <p14:creationId xmlns:p14="http://schemas.microsoft.com/office/powerpoint/2010/main" val="3702790486"/>
      </p:ext>
    </p:extLst>
  </p:cSld>
  <p:clrMapOvr>
    <a:masterClrMapping/>
  </p:clrMapOvr>
  <p:transition spd="slow">
    <p:wipe/>
  </p:transition>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4CDC665-7415-4DAF-AE09-B9BBC1907393}" type="datetime2">
              <a:rPr lang="en-US" smtClean="0"/>
              <a:t>Sunday, May 18, 2025</a:t>
            </a:fld>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7BE69E03-4804-4553-A1EC-F089884EF50F}"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073262216"/>
      </p:ext>
    </p:extLst>
  </p:cSld>
  <p:clrMapOvr>
    <a:masterClrMapping/>
  </p:clrMapOvr>
  <p:transition spd="slow">
    <p:wipe/>
  </p:transition>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CDC665-7415-4DAF-AE09-B9BBC1907393}" type="datetime2">
              <a:rPr lang="en-US" smtClean="0"/>
              <a:t>Sunday, May 18, 2025</a:t>
            </a:fld>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7BE69E03-4804-4553-A1EC-F089884EF50F}" type="slidenum">
              <a:rPr lang="en-US" smtClean="0"/>
              <a:t>‹#›</a:t>
            </a:fld>
            <a:endParaRPr lang="en-US" dirty="0"/>
          </a:p>
        </p:txBody>
      </p:sp>
    </p:spTree>
    <p:extLst>
      <p:ext uri="{BB962C8B-B14F-4D97-AF65-F5344CB8AC3E}">
        <p14:creationId xmlns:p14="http://schemas.microsoft.com/office/powerpoint/2010/main" val="836751334"/>
      </p:ext>
    </p:extLst>
  </p:cSld>
  <p:clrMapOvr>
    <a:masterClrMapping/>
  </p:clrMapOvr>
  <p:transition spd="slow">
    <p:wipe/>
  </p:transition>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4CDC665-7415-4DAF-AE09-B9BBC1907393}" type="datetime2">
              <a:rPr lang="en-US" smtClean="0"/>
              <a:t>Sunday, May 18, 2025</a:t>
            </a:fld>
            <a:endParaRPr lang="en-US" dirty="0"/>
          </a:p>
        </p:txBody>
      </p:sp>
      <p:sp>
        <p:nvSpPr>
          <p:cNvPr id="4"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7BE69E03-4804-4553-A1EC-F089884EF50F}" type="slidenum">
              <a:rPr lang="en-US" smtClean="0"/>
              <a:t>‹#›</a:t>
            </a:fld>
            <a:endParaRPr lang="en-US" dirty="0"/>
          </a:p>
        </p:txBody>
      </p:sp>
    </p:spTree>
    <p:extLst>
      <p:ext uri="{BB962C8B-B14F-4D97-AF65-F5344CB8AC3E}">
        <p14:creationId xmlns:p14="http://schemas.microsoft.com/office/powerpoint/2010/main" val="2020301907"/>
      </p:ext>
    </p:extLst>
  </p:cSld>
  <p:clrMapOvr>
    <a:masterClrMapping/>
  </p:clrMapOvr>
  <p:transition spd="slow">
    <p:wipe/>
  </p:transition>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4CDC665-7415-4DAF-AE09-B9BBC1907393}" type="datetime2">
              <a:rPr lang="en-US" smtClean="0"/>
              <a:t>Sunday, May 18, 2025</a:t>
            </a:fld>
            <a:endParaRPr lang="en-US" dirty="0"/>
          </a:p>
        </p:txBody>
      </p:sp>
      <p:sp>
        <p:nvSpPr>
          <p:cNvPr id="4"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7BE69E03-4804-4553-A1EC-F089884EF50F}" type="slidenum">
              <a:rPr lang="en-US" smtClean="0"/>
              <a:t>‹#›</a:t>
            </a:fld>
            <a:endParaRPr lang="en-US" dirty="0"/>
          </a:p>
        </p:txBody>
      </p:sp>
    </p:spTree>
    <p:extLst>
      <p:ext uri="{BB962C8B-B14F-4D97-AF65-F5344CB8AC3E}">
        <p14:creationId xmlns:p14="http://schemas.microsoft.com/office/powerpoint/2010/main" val="1172582352"/>
      </p:ext>
    </p:extLst>
  </p:cSld>
  <p:clrMapOvr>
    <a:masterClrMapping/>
  </p:clrMapOvr>
  <p:transition spd="slow">
    <p:wipe/>
  </p:transition>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12A49D-4A7C-4944-9802-8EE0B5A6CEDD}" type="datetime2">
              <a:rPr lang="en-US" smtClean="0"/>
              <a:t>Sunday, May 18, 2025</a:t>
            </a:fld>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7BE69E03-4804-4553-A1EC-F089884EF50F}" type="slidenum">
              <a:rPr lang="en-US" smtClean="0"/>
              <a:t>‹#›</a:t>
            </a:fld>
            <a:endParaRPr lang="en-US" dirty="0"/>
          </a:p>
        </p:txBody>
      </p:sp>
    </p:spTree>
    <p:extLst>
      <p:ext uri="{BB962C8B-B14F-4D97-AF65-F5344CB8AC3E}">
        <p14:creationId xmlns:p14="http://schemas.microsoft.com/office/powerpoint/2010/main" val="3538735498"/>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689DDD-3B11-4150-8B39-3662C10D8BF9}" type="datetime2">
              <a:rPr lang="en-US" smtClean="0"/>
              <a:t>Sunday, May 18, 2025</a:t>
            </a:fld>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7BE69E03-4804-4553-A1EC-F089884EF50F}" type="slidenum">
              <a:rPr lang="en-US" smtClean="0"/>
              <a:t>‹#›</a:t>
            </a:fld>
            <a:endParaRPr lang="en-US" dirty="0"/>
          </a:p>
        </p:txBody>
      </p:sp>
    </p:spTree>
    <p:extLst>
      <p:ext uri="{BB962C8B-B14F-4D97-AF65-F5344CB8AC3E}">
        <p14:creationId xmlns:p14="http://schemas.microsoft.com/office/powerpoint/2010/main" val="89706000"/>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4CDC665-7415-4DAF-AE09-B9BBC1907393}" type="datetime2">
              <a:rPr lang="en-US" smtClean="0"/>
              <a:t>Sunday, May 18, 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dirty="0"/>
              <a:t>Sample Footer Text</a:t>
            </a: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BE69E03-4804-4553-A1EC-F089884EF50F}" type="slidenum">
              <a:rPr lang="en-US" smtClean="0"/>
              <a:t>‹#›</a:t>
            </a:fld>
            <a:endParaRPr lang="en-US" dirty="0"/>
          </a:p>
        </p:txBody>
      </p:sp>
    </p:spTree>
    <p:extLst>
      <p:ext uri="{BB962C8B-B14F-4D97-AF65-F5344CB8AC3E}">
        <p14:creationId xmlns:p14="http://schemas.microsoft.com/office/powerpoint/2010/main" val="2917397625"/>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ransition spd="slow">
    <p:wipe/>
  </p:transition>
  <p:hf hdr="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4322390-8B58-46BE-88EB-D9FD30C08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Measuring tape on table">
            <a:extLst>
              <a:ext uri="{FF2B5EF4-FFF2-40B4-BE49-F238E27FC236}">
                <a16:creationId xmlns:a16="http://schemas.microsoft.com/office/drawing/2014/main" id="{C7E9C952-E83E-A931-1659-310AAE5C94FF}"/>
              </a:ext>
            </a:extLst>
          </p:cNvPr>
          <p:cNvPicPr>
            <a:picLocks noChangeAspect="1"/>
          </p:cNvPicPr>
          <p:nvPr/>
        </p:nvPicPr>
        <p:blipFill>
          <a:blip r:embed="rId2">
            <a:alphaModFix amt="40000"/>
          </a:blip>
          <a:srcRect t="1573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3A6F5E4A-66C6-794D-C31D-C145932EDA96}"/>
              </a:ext>
            </a:extLst>
          </p:cNvPr>
          <p:cNvSpPr>
            <a:spLocks noGrp="1"/>
          </p:cNvSpPr>
          <p:nvPr>
            <p:ph type="ctrTitle"/>
          </p:nvPr>
        </p:nvSpPr>
        <p:spPr>
          <a:xfrm>
            <a:off x="1154955" y="1447800"/>
            <a:ext cx="8825658" cy="3329581"/>
          </a:xfrm>
        </p:spPr>
        <p:txBody>
          <a:bodyPr>
            <a:normAutofit/>
          </a:bodyPr>
          <a:lstStyle/>
          <a:p>
            <a:pPr>
              <a:lnSpc>
                <a:spcPct val="90000"/>
              </a:lnSpc>
            </a:pPr>
            <a:r>
              <a:rPr lang="en-US" dirty="0">
                <a:solidFill>
                  <a:schemeClr val="tx1"/>
                </a:solidFill>
              </a:rPr>
              <a:t>Obesity Prediction project</a:t>
            </a:r>
            <a:r>
              <a:rPr lang="ar-EG" dirty="0">
                <a:solidFill>
                  <a:schemeClr val="tx1"/>
                </a:solidFill>
              </a:rPr>
              <a:t>.</a:t>
            </a:r>
            <a:br>
              <a:rPr lang="en-US" dirty="0">
                <a:solidFill>
                  <a:schemeClr val="tx1"/>
                </a:solidFill>
              </a:rPr>
            </a:br>
            <a:endParaRPr lang="en-US" dirty="0">
              <a:solidFill>
                <a:schemeClr val="tx1"/>
              </a:solidFill>
            </a:endParaRPr>
          </a:p>
        </p:txBody>
      </p:sp>
      <p:sp>
        <p:nvSpPr>
          <p:cNvPr id="3" name="Subtitle 2">
            <a:extLst>
              <a:ext uri="{FF2B5EF4-FFF2-40B4-BE49-F238E27FC236}">
                <a16:creationId xmlns:a16="http://schemas.microsoft.com/office/drawing/2014/main" id="{45311F4E-06BF-C07F-F6E4-9BBC6B3F097D}"/>
              </a:ext>
            </a:extLst>
          </p:cNvPr>
          <p:cNvSpPr>
            <a:spLocks noGrp="1"/>
          </p:cNvSpPr>
          <p:nvPr>
            <p:ph type="subTitle" idx="1"/>
          </p:nvPr>
        </p:nvSpPr>
        <p:spPr>
          <a:xfrm>
            <a:off x="1154955" y="4777380"/>
            <a:ext cx="8825658" cy="861420"/>
          </a:xfrm>
        </p:spPr>
        <p:txBody>
          <a:bodyPr>
            <a:normAutofit/>
          </a:bodyPr>
          <a:lstStyle/>
          <a:p>
            <a:r>
              <a:rPr lang="en-US" dirty="0">
                <a:solidFill>
                  <a:schemeClr val="tx1"/>
                </a:solidFill>
              </a:rPr>
              <a:t>AI model.</a:t>
            </a:r>
          </a:p>
        </p:txBody>
      </p:sp>
      <p:sp>
        <p:nvSpPr>
          <p:cNvPr id="11" name="Rectangle 10">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393511943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AEF4B-2DE5-7FD0-E49F-61ADC4D501FB}"/>
              </a:ext>
            </a:extLst>
          </p:cNvPr>
          <p:cNvSpPr>
            <a:spLocks noGrp="1"/>
          </p:cNvSpPr>
          <p:nvPr>
            <p:ph type="title"/>
          </p:nvPr>
        </p:nvSpPr>
        <p:spPr>
          <a:xfrm>
            <a:off x="646111" y="295729"/>
            <a:ext cx="9404723" cy="767687"/>
          </a:xfrm>
        </p:spPr>
        <p:txBody>
          <a:bodyPr/>
          <a:lstStyle/>
          <a:p>
            <a:pPr marL="571500" indent="-571500">
              <a:buFont typeface="Wingdings" panose="05000000000000000000" pitchFamily="2" charset="2"/>
              <a:buChar char="v"/>
            </a:pPr>
            <a:r>
              <a:rPr lang="en-US" b="1" dirty="0">
                <a:solidFill>
                  <a:schemeClr val="tx1"/>
                </a:solidFill>
              </a:rPr>
              <a:t>L</a:t>
            </a:r>
            <a:r>
              <a:rPr lang="en-US" sz="4400" b="1" dirty="0">
                <a:solidFill>
                  <a:schemeClr val="tx1"/>
                </a:solidFill>
              </a:rPr>
              <a:t>ibraries</a:t>
            </a:r>
            <a:r>
              <a:rPr lang="en-US" b="1" dirty="0">
                <a:solidFill>
                  <a:schemeClr val="tx1"/>
                </a:solidFill>
              </a:rPr>
              <a:t> </a:t>
            </a:r>
          </a:p>
        </p:txBody>
      </p:sp>
      <p:sp>
        <p:nvSpPr>
          <p:cNvPr id="3" name="Content Placeholder 2">
            <a:extLst>
              <a:ext uri="{FF2B5EF4-FFF2-40B4-BE49-F238E27FC236}">
                <a16:creationId xmlns:a16="http://schemas.microsoft.com/office/drawing/2014/main" id="{B2C8C3B8-FF94-9C58-10E8-060B4BF6A457}"/>
              </a:ext>
            </a:extLst>
          </p:cNvPr>
          <p:cNvSpPr>
            <a:spLocks noGrp="1"/>
          </p:cNvSpPr>
          <p:nvPr>
            <p:ph idx="1"/>
          </p:nvPr>
        </p:nvSpPr>
        <p:spPr>
          <a:xfrm>
            <a:off x="576072" y="1063416"/>
            <a:ext cx="11361928" cy="5273376"/>
          </a:xfrm>
        </p:spPr>
        <p:txBody>
          <a:bodyPr>
            <a:normAutofit/>
          </a:bodyPr>
          <a:lstStyle/>
          <a:p>
            <a:pPr marL="0" indent="0">
              <a:buNone/>
            </a:pPr>
            <a:r>
              <a:rPr lang="en-US" dirty="0"/>
              <a:t>1) </a:t>
            </a:r>
            <a:r>
              <a:rPr lang="en-US" b="1" dirty="0"/>
              <a:t>numpy :</a:t>
            </a:r>
          </a:p>
          <a:p>
            <a:pPr marL="0" indent="0">
              <a:buNone/>
            </a:pPr>
            <a:r>
              <a:rPr lang="en-US" dirty="0">
                <a:solidFill>
                  <a:schemeClr val="accent1">
                    <a:lumMod val="75000"/>
                  </a:schemeClr>
                </a:solidFill>
              </a:rPr>
              <a:t>	</a:t>
            </a:r>
            <a:r>
              <a:rPr lang="en-US" dirty="0">
                <a:solidFill>
                  <a:schemeClr val="tx2">
                    <a:lumMod val="90000"/>
                  </a:schemeClr>
                </a:solidFill>
              </a:rPr>
              <a:t>a library for handling numbers, matrices and mathematical operations.</a:t>
            </a:r>
          </a:p>
          <a:p>
            <a:pPr marL="0" indent="0">
              <a:buNone/>
            </a:pPr>
            <a:r>
              <a:rPr lang="en-US" dirty="0"/>
              <a:t> 2) </a:t>
            </a:r>
            <a:r>
              <a:rPr lang="en-US" b="1" dirty="0"/>
              <a:t>pandas :</a:t>
            </a:r>
          </a:p>
          <a:p>
            <a:pPr marL="0" indent="0">
              <a:buNone/>
            </a:pPr>
            <a:r>
              <a:rPr lang="en-US" dirty="0"/>
              <a:t> </a:t>
            </a:r>
            <a:r>
              <a:rPr lang="en-US" dirty="0">
                <a:solidFill>
                  <a:schemeClr val="accent1">
                    <a:lumMod val="75000"/>
                  </a:schemeClr>
                </a:solidFill>
              </a:rPr>
              <a:t>	</a:t>
            </a:r>
            <a:r>
              <a:rPr lang="en-US" b="1" dirty="0">
                <a:solidFill>
                  <a:schemeClr val="tx2">
                    <a:lumMod val="90000"/>
                  </a:schemeClr>
                </a:solidFill>
              </a:rPr>
              <a:t>Pandas</a:t>
            </a:r>
            <a:r>
              <a:rPr lang="en-US" dirty="0">
                <a:solidFill>
                  <a:schemeClr val="tx2">
                    <a:lumMod val="90000"/>
                  </a:schemeClr>
                </a:solidFill>
              </a:rPr>
              <a:t> is one of the most important libraries for </a:t>
            </a:r>
            <a:r>
              <a:rPr lang="en-US" b="1" dirty="0">
                <a:solidFill>
                  <a:schemeClr val="tx2">
                    <a:lumMod val="90000"/>
                  </a:schemeClr>
                </a:solidFill>
              </a:rPr>
              <a:t>data analysis</a:t>
            </a:r>
            <a:r>
              <a:rPr lang="en-US" dirty="0">
                <a:solidFill>
                  <a:schemeClr val="tx2">
                    <a:lumMod val="90000"/>
                  </a:schemeClr>
                </a:solidFill>
              </a:rPr>
              <a:t> and </a:t>
            </a:r>
            <a:r>
              <a:rPr lang="en-US" b="1" dirty="0">
                <a:solidFill>
                  <a:schemeClr val="tx2">
                    <a:lumMod val="90000"/>
                  </a:schemeClr>
                </a:solidFill>
              </a:rPr>
              <a:t>data 	manipulation. A</a:t>
            </a:r>
            <a:r>
              <a:rPr lang="en-US" dirty="0">
                <a:solidFill>
                  <a:schemeClr val="tx2">
                    <a:lumMod val="90000"/>
                  </a:schemeClr>
                </a:solidFill>
              </a:rPr>
              <a:t>llow </a:t>
            </a:r>
            <a:r>
              <a:rPr lang="en-US" b="1" dirty="0">
                <a:solidFill>
                  <a:schemeClr val="tx2">
                    <a:lumMod val="90000"/>
                  </a:schemeClr>
                </a:solidFill>
              </a:rPr>
              <a:t>Reading, Cleaning, Exploring  and Processing datasets.</a:t>
            </a:r>
          </a:p>
          <a:p>
            <a:pPr marL="0" indent="0">
              <a:buNone/>
            </a:pPr>
            <a:r>
              <a:rPr lang="en-US" b="1" dirty="0"/>
              <a:t>3)</a:t>
            </a:r>
            <a:r>
              <a:rPr lang="en-US" dirty="0"/>
              <a:t> </a:t>
            </a:r>
            <a:r>
              <a:rPr lang="en-US" b="1" dirty="0"/>
              <a:t>matplotlib.pyplot :</a:t>
            </a:r>
          </a:p>
          <a:p>
            <a:pPr marL="0" indent="0">
              <a:buNone/>
            </a:pPr>
            <a:r>
              <a:rPr lang="en-US" b="1" dirty="0">
                <a:solidFill>
                  <a:schemeClr val="accent1">
                    <a:lumMod val="75000"/>
                  </a:schemeClr>
                </a:solidFill>
              </a:rPr>
              <a:t>	</a:t>
            </a:r>
            <a:r>
              <a:rPr lang="en-US" b="1" dirty="0">
                <a:solidFill>
                  <a:schemeClr val="tx2">
                    <a:lumMod val="90000"/>
                  </a:schemeClr>
                </a:solidFill>
              </a:rPr>
              <a:t>Matplotlib</a:t>
            </a:r>
            <a:r>
              <a:rPr lang="en-US" dirty="0">
                <a:solidFill>
                  <a:schemeClr val="tx2">
                    <a:lumMod val="90000"/>
                  </a:schemeClr>
                </a:solidFill>
              </a:rPr>
              <a:t> is a library used for </a:t>
            </a:r>
            <a:r>
              <a:rPr lang="en-US" b="1" dirty="0">
                <a:solidFill>
                  <a:schemeClr val="tx2">
                    <a:lumMod val="90000"/>
                  </a:schemeClr>
                </a:solidFill>
              </a:rPr>
              <a:t>visualizing data. </a:t>
            </a:r>
            <a:r>
              <a:rPr lang="en-US" dirty="0">
                <a:solidFill>
                  <a:schemeClr val="tx2">
                    <a:lumMod val="90000"/>
                  </a:schemeClr>
                </a:solidFill>
              </a:rPr>
              <a:t>The</a:t>
            </a:r>
            <a:r>
              <a:rPr lang="en-US" b="1" dirty="0">
                <a:solidFill>
                  <a:schemeClr val="tx2">
                    <a:lumMod val="90000"/>
                  </a:schemeClr>
                </a:solidFill>
              </a:rPr>
              <a:t> pyplot </a:t>
            </a:r>
            <a:r>
              <a:rPr lang="en-US" dirty="0">
                <a:solidFill>
                  <a:schemeClr val="tx2">
                    <a:lumMod val="90000"/>
                  </a:schemeClr>
                </a:solidFill>
              </a:rPr>
              <a:t>allows</a:t>
            </a:r>
            <a:r>
              <a:rPr lang="en-US" b="1" dirty="0">
                <a:solidFill>
                  <a:schemeClr val="tx2">
                    <a:lumMod val="90000"/>
                  </a:schemeClr>
                </a:solidFill>
              </a:rPr>
              <a:t> </a:t>
            </a:r>
            <a:r>
              <a:rPr lang="en-US" dirty="0">
                <a:solidFill>
                  <a:schemeClr val="tx2">
                    <a:lumMod val="90000"/>
                  </a:schemeClr>
                </a:solidFill>
              </a:rPr>
              <a:t>to make basic plots</a:t>
            </a:r>
          </a:p>
          <a:p>
            <a:pPr marL="0" indent="0">
              <a:buNone/>
            </a:pPr>
            <a:r>
              <a:rPr lang="en-US" b="1" dirty="0"/>
              <a:t>4) Seaborn : </a:t>
            </a:r>
          </a:p>
          <a:p>
            <a:pPr marL="0" indent="0">
              <a:buNone/>
            </a:pPr>
            <a:r>
              <a:rPr lang="en-US" dirty="0">
                <a:solidFill>
                  <a:schemeClr val="bg1">
                    <a:lumMod val="95000"/>
                    <a:lumOff val="5000"/>
                  </a:schemeClr>
                </a:solidFill>
              </a:rPr>
              <a:t>	</a:t>
            </a:r>
            <a:r>
              <a:rPr lang="en-US" dirty="0">
                <a:solidFill>
                  <a:schemeClr val="tx2">
                    <a:lumMod val="90000"/>
                  </a:schemeClr>
                </a:solidFill>
              </a:rPr>
              <a:t>more advanced visualization library built on top of Matplotlib. Used for </a:t>
            </a:r>
            <a:r>
              <a:rPr lang="en-US" b="1" dirty="0">
                <a:solidFill>
                  <a:schemeClr val="tx2">
                    <a:lumMod val="90000"/>
                  </a:schemeClr>
                </a:solidFill>
              </a:rPr>
              <a:t>statistical plots</a:t>
            </a:r>
            <a:r>
              <a:rPr lang="en-US" dirty="0">
                <a:solidFill>
                  <a:schemeClr val="tx2">
                    <a:lumMod val="90000"/>
                  </a:schemeClr>
                </a:solidFill>
              </a:rPr>
              <a:t> 	like </a:t>
            </a:r>
            <a:r>
              <a:rPr lang="en-US" b="1" dirty="0">
                <a:solidFill>
                  <a:schemeClr val="tx2">
                    <a:lumMod val="90000"/>
                  </a:schemeClr>
                </a:solidFill>
              </a:rPr>
              <a:t>heatmaps, </a:t>
            </a:r>
            <a:r>
              <a:rPr lang="en-US" dirty="0">
                <a:solidFill>
                  <a:schemeClr val="tx2">
                    <a:lumMod val="90000"/>
                  </a:schemeClr>
                </a:solidFill>
              </a:rPr>
              <a:t>makes your charts look better by default.</a:t>
            </a:r>
          </a:p>
          <a:p>
            <a:pPr marL="0" indent="0">
              <a:buNone/>
            </a:pPr>
            <a:r>
              <a:rPr lang="en-US" b="1" dirty="0">
                <a:solidFill>
                  <a:schemeClr val="tx1">
                    <a:lumMod val="95000"/>
                  </a:schemeClr>
                </a:solidFill>
              </a:rPr>
              <a:t>5) </a:t>
            </a:r>
            <a:r>
              <a:rPr lang="en-US" b="1" dirty="0"/>
              <a:t>plotly.express : </a:t>
            </a:r>
          </a:p>
          <a:p>
            <a:pPr marL="0" indent="0">
              <a:buNone/>
            </a:pPr>
            <a:r>
              <a:rPr lang="en-US" b="1" dirty="0">
                <a:solidFill>
                  <a:schemeClr val="bg1">
                    <a:lumMod val="95000"/>
                    <a:lumOff val="5000"/>
                  </a:schemeClr>
                </a:solidFill>
              </a:rPr>
              <a:t>	</a:t>
            </a:r>
            <a:r>
              <a:rPr lang="en-US" dirty="0">
                <a:solidFill>
                  <a:schemeClr val="tx2">
                    <a:lumMod val="90000"/>
                  </a:schemeClr>
                </a:solidFill>
              </a:rPr>
              <a:t>library for creating </a:t>
            </a:r>
            <a:r>
              <a:rPr lang="en-US" b="1" dirty="0">
                <a:solidFill>
                  <a:schemeClr val="tx2">
                    <a:lumMod val="90000"/>
                  </a:schemeClr>
                </a:solidFill>
              </a:rPr>
              <a:t>interactive plots </a:t>
            </a:r>
            <a:r>
              <a:rPr lang="en-US" dirty="0">
                <a:solidFill>
                  <a:schemeClr val="tx2">
                    <a:lumMod val="90000"/>
                  </a:schemeClr>
                </a:solidFill>
              </a:rPr>
              <a:t>its charts allow users to zoom, hover, and explore 	the data.</a:t>
            </a:r>
            <a:endParaRPr lang="en-US" b="1" dirty="0">
              <a:solidFill>
                <a:schemeClr val="tx2">
                  <a:lumMod val="90000"/>
                </a:schemeClr>
              </a:solidFill>
            </a:endParaRPr>
          </a:p>
          <a:p>
            <a:pPr marL="0" indent="0">
              <a:buNone/>
            </a:pPr>
            <a:endParaRPr lang="en-US" dirty="0"/>
          </a:p>
          <a:p>
            <a:pPr marL="0" indent="0">
              <a:buNone/>
            </a:pPr>
            <a:endParaRPr lang="en-US" dirty="0"/>
          </a:p>
        </p:txBody>
      </p:sp>
      <p:sp>
        <p:nvSpPr>
          <p:cNvPr id="4" name="Date Placeholder 3">
            <a:extLst>
              <a:ext uri="{FF2B5EF4-FFF2-40B4-BE49-F238E27FC236}">
                <a16:creationId xmlns:a16="http://schemas.microsoft.com/office/drawing/2014/main" id="{DB1302F9-E6CE-2BCE-E8C8-7B002EE8B6E2}"/>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6A6ECE3D-1EFD-5056-9507-B68DD8F14B3B}"/>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AA751CF-2BE3-B303-BC54-3FBA9A612766}"/>
              </a:ext>
            </a:extLst>
          </p:cNvPr>
          <p:cNvSpPr>
            <a:spLocks noGrp="1"/>
          </p:cNvSpPr>
          <p:nvPr>
            <p:ph type="sldNum" sz="quarter" idx="12"/>
          </p:nvPr>
        </p:nvSpPr>
        <p:spPr/>
        <p:txBody>
          <a:bodyPr/>
          <a:lstStyle/>
          <a:p>
            <a:fld id="{7BE69E03-4804-4553-A1EC-F089884EF50F}" type="slidenum">
              <a:rPr lang="en-US" smtClean="0">
                <a:solidFill>
                  <a:schemeClr val="bg1"/>
                </a:solidFill>
              </a:rPr>
              <a:t>2</a:t>
            </a:fld>
            <a:endParaRPr lang="en-US" dirty="0">
              <a:solidFill>
                <a:schemeClr val="bg1"/>
              </a:solidFill>
            </a:endParaRPr>
          </a:p>
        </p:txBody>
      </p:sp>
    </p:spTree>
    <p:extLst>
      <p:ext uri="{BB962C8B-B14F-4D97-AF65-F5344CB8AC3E}">
        <p14:creationId xmlns:p14="http://schemas.microsoft.com/office/powerpoint/2010/main" val="347427055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arn(inVertic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arn(inVertic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arn(inVertic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arn(inVertical)">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B85DB-16FA-2DD6-9E15-11DCC0FB944B}"/>
              </a:ext>
            </a:extLst>
          </p:cNvPr>
          <p:cNvSpPr>
            <a:spLocks noGrp="1"/>
          </p:cNvSpPr>
          <p:nvPr>
            <p:ph type="title"/>
          </p:nvPr>
        </p:nvSpPr>
        <p:spPr>
          <a:xfrm>
            <a:off x="292608" y="295729"/>
            <a:ext cx="10510730" cy="1312938"/>
          </a:xfrm>
        </p:spPr>
        <p:txBody>
          <a:bodyPr/>
          <a:lstStyle/>
          <a:p>
            <a:pPr marL="571500" indent="-571500">
              <a:buFont typeface="Wingdings" panose="05000000000000000000" pitchFamily="2" charset="2"/>
              <a:buChar char="v"/>
            </a:pPr>
            <a:r>
              <a:rPr lang="en-US" sz="5400" b="1" dirty="0">
                <a:solidFill>
                  <a:schemeClr val="tx1"/>
                </a:solidFill>
                <a:effectLst/>
                <a:latin typeface="Consolas" panose="020B0609020204030204" pitchFamily="49" charset="0"/>
              </a:rPr>
              <a:t>R</a:t>
            </a:r>
            <a:r>
              <a:rPr lang="en-US" sz="2800" b="1" dirty="0">
                <a:solidFill>
                  <a:schemeClr val="tx1"/>
                </a:solidFill>
                <a:effectLst/>
                <a:latin typeface="Consolas" panose="020B0609020204030204" pitchFamily="49" charset="0"/>
              </a:rPr>
              <a:t>EADING AND COMBINING THE TRAIN AND TEST DATASETS.</a:t>
            </a:r>
            <a:br>
              <a:rPr lang="en-US" sz="2800" b="0" dirty="0">
                <a:solidFill>
                  <a:schemeClr val="tx1"/>
                </a:solidFill>
                <a:effectLst/>
                <a:latin typeface="Consolas" panose="020B0609020204030204" pitchFamily="49" charset="0"/>
              </a:rPr>
            </a:br>
            <a:br>
              <a:rPr lang="en-US" sz="3200" b="0" dirty="0">
                <a:solidFill>
                  <a:srgbClr val="D4D4D4"/>
                </a:solidFill>
                <a:effectLst/>
                <a:latin typeface="Consolas" panose="020B0609020204030204" pitchFamily="49" charset="0"/>
              </a:rPr>
            </a:br>
            <a:br>
              <a:rPr lang="en-US" b="0" dirty="0">
                <a:solidFill>
                  <a:srgbClr val="D4D4D4"/>
                </a:solidFill>
                <a:effectLst/>
                <a:latin typeface="Consolas" panose="020B0609020204030204" pitchFamily="49" charset="0"/>
              </a:rPr>
            </a:br>
            <a:endParaRPr lang="en-US" dirty="0"/>
          </a:p>
        </p:txBody>
      </p:sp>
      <p:sp>
        <p:nvSpPr>
          <p:cNvPr id="3" name="Content Placeholder 2">
            <a:extLst>
              <a:ext uri="{FF2B5EF4-FFF2-40B4-BE49-F238E27FC236}">
                <a16:creationId xmlns:a16="http://schemas.microsoft.com/office/drawing/2014/main" id="{157FE695-96E2-5221-D1BC-7BC82171BBDD}"/>
              </a:ext>
            </a:extLst>
          </p:cNvPr>
          <p:cNvSpPr>
            <a:spLocks noGrp="1"/>
          </p:cNvSpPr>
          <p:nvPr>
            <p:ph idx="1"/>
          </p:nvPr>
        </p:nvSpPr>
        <p:spPr>
          <a:xfrm>
            <a:off x="657718" y="1447800"/>
            <a:ext cx="10071352" cy="4885943"/>
          </a:xfrm>
        </p:spPr>
        <p:txBody>
          <a:bodyPr>
            <a:noAutofit/>
          </a:bodyPr>
          <a:lstStyle/>
          <a:p>
            <a:pPr marL="0" indent="0">
              <a:buNone/>
            </a:pPr>
            <a:r>
              <a:rPr lang="en-US" dirty="0"/>
              <a:t>1) </a:t>
            </a:r>
            <a:r>
              <a:rPr lang="en-US" b="1" dirty="0">
                <a:effectLst/>
                <a:latin typeface="Consolas" panose="020B0609020204030204" pitchFamily="49" charset="0"/>
              </a:rPr>
              <a:t>pd.read_csv:</a:t>
            </a:r>
          </a:p>
          <a:p>
            <a:pPr marL="0" indent="0">
              <a:buNone/>
            </a:pPr>
            <a:r>
              <a:rPr lang="en-US" b="0" dirty="0">
                <a:solidFill>
                  <a:schemeClr val="tx2">
                    <a:lumMod val="90000"/>
                  </a:schemeClr>
                </a:solidFill>
                <a:effectLst/>
                <a:latin typeface="Consolas" panose="020B0609020204030204" pitchFamily="49" charset="0"/>
              </a:rPr>
              <a:t>	</a:t>
            </a:r>
            <a:r>
              <a:rPr lang="en-US" dirty="0">
                <a:solidFill>
                  <a:schemeClr val="tx2">
                    <a:lumMod val="90000"/>
                  </a:schemeClr>
                </a:solidFill>
                <a:latin typeface="Consolas" panose="020B0609020204030204" pitchFamily="49" charset="0"/>
              </a:rPr>
              <a:t>Is a function in </a:t>
            </a:r>
            <a:r>
              <a:rPr lang="en-US" b="1" dirty="0">
                <a:solidFill>
                  <a:schemeClr val="tx2">
                    <a:lumMod val="90000"/>
                  </a:schemeClr>
                </a:solidFill>
                <a:latin typeface="Consolas" panose="020B0609020204030204" pitchFamily="49" charset="0"/>
              </a:rPr>
              <a:t>Pandas </a:t>
            </a:r>
            <a:r>
              <a:rPr lang="en-US" dirty="0">
                <a:solidFill>
                  <a:schemeClr val="tx2">
                    <a:lumMod val="90000"/>
                  </a:schemeClr>
                </a:solidFill>
                <a:latin typeface="Consolas" panose="020B0609020204030204" pitchFamily="49" charset="0"/>
              </a:rPr>
              <a:t>that read datasets from CVS files and</a:t>
            </a:r>
          </a:p>
          <a:p>
            <a:pPr marL="0" indent="0">
              <a:buNone/>
            </a:pPr>
            <a:r>
              <a:rPr lang="en-US" dirty="0">
                <a:solidFill>
                  <a:schemeClr val="tx2">
                    <a:lumMod val="90000"/>
                  </a:schemeClr>
                </a:solidFill>
                <a:latin typeface="Consolas" panose="020B0609020204030204" pitchFamily="49" charset="0"/>
              </a:rPr>
              <a:t>	convert into </a:t>
            </a:r>
            <a:r>
              <a:rPr lang="en-US" b="1" dirty="0">
                <a:solidFill>
                  <a:schemeClr val="tx2">
                    <a:lumMod val="90000"/>
                  </a:schemeClr>
                </a:solidFill>
                <a:latin typeface="Consolas" panose="020B0609020204030204" pitchFamily="49" charset="0"/>
              </a:rPr>
              <a:t>DataFrame </a:t>
            </a:r>
            <a:r>
              <a:rPr lang="en-US" dirty="0">
                <a:solidFill>
                  <a:schemeClr val="tx2">
                    <a:lumMod val="90000"/>
                  </a:schemeClr>
                </a:solidFill>
                <a:latin typeface="Consolas" panose="020B0609020204030204" pitchFamily="49" charset="0"/>
              </a:rPr>
              <a:t>once for training dataset and once for </a:t>
            </a:r>
          </a:p>
          <a:p>
            <a:pPr marL="0" indent="0">
              <a:buNone/>
            </a:pPr>
            <a:r>
              <a:rPr lang="en-US" b="1" dirty="0">
                <a:solidFill>
                  <a:schemeClr val="tx2">
                    <a:lumMod val="90000"/>
                  </a:schemeClr>
                </a:solidFill>
                <a:latin typeface="Consolas" panose="020B0609020204030204" pitchFamily="49" charset="0"/>
              </a:rPr>
              <a:t>	</a:t>
            </a:r>
            <a:r>
              <a:rPr lang="en-US" dirty="0">
                <a:solidFill>
                  <a:schemeClr val="tx2">
                    <a:lumMod val="90000"/>
                  </a:schemeClr>
                </a:solidFill>
                <a:latin typeface="Consolas" panose="020B0609020204030204" pitchFamily="49" charset="0"/>
              </a:rPr>
              <a:t>testing dataset</a:t>
            </a:r>
            <a:r>
              <a:rPr lang="en-US" b="1" dirty="0">
                <a:solidFill>
                  <a:schemeClr val="tx2">
                    <a:lumMod val="90000"/>
                  </a:schemeClr>
                </a:solidFill>
                <a:latin typeface="Consolas" panose="020B0609020204030204" pitchFamily="49" charset="0"/>
              </a:rPr>
              <a:t>.</a:t>
            </a:r>
          </a:p>
          <a:p>
            <a:pPr marL="0" indent="0">
              <a:buNone/>
            </a:pPr>
            <a:endParaRPr lang="en-US" b="1" dirty="0">
              <a:latin typeface="Consolas" panose="020B0609020204030204" pitchFamily="49" charset="0"/>
            </a:endParaRPr>
          </a:p>
          <a:p>
            <a:pPr marL="0" indent="0">
              <a:buNone/>
            </a:pPr>
            <a:r>
              <a:rPr lang="en-US" b="1" dirty="0">
                <a:effectLst/>
                <a:latin typeface="Consolas" panose="020B0609020204030204" pitchFamily="49" charset="0"/>
              </a:rPr>
              <a:t>2) </a:t>
            </a:r>
            <a:r>
              <a:rPr lang="en-US" b="1" dirty="0"/>
              <a:t>combined_df = pd.concat([train_df, test_df], ignore_index=True):</a:t>
            </a:r>
          </a:p>
          <a:p>
            <a:pPr marL="0" indent="0">
              <a:buNone/>
            </a:pPr>
            <a:r>
              <a:rPr lang="en-US" b="1" dirty="0">
                <a:solidFill>
                  <a:schemeClr val="bg1"/>
                </a:solidFill>
                <a:effectLst/>
                <a:latin typeface="Consolas" panose="020B0609020204030204" pitchFamily="49" charset="0"/>
              </a:rPr>
              <a:t>	</a:t>
            </a:r>
            <a:r>
              <a:rPr lang="en-US" dirty="0">
                <a:solidFill>
                  <a:schemeClr val="tx2">
                    <a:lumMod val="90000"/>
                  </a:schemeClr>
                </a:solidFill>
                <a:latin typeface="Consolas" panose="020B0609020204030204" pitchFamily="49" charset="0"/>
              </a:rPr>
              <a:t>Combines the training and testing datasets into one dataframe.</a:t>
            </a:r>
          </a:p>
          <a:p>
            <a:pPr marL="0" indent="0">
              <a:buNone/>
            </a:pPr>
            <a:r>
              <a:rPr lang="en-US" b="1" dirty="0">
                <a:solidFill>
                  <a:schemeClr val="tx2">
                    <a:lumMod val="90000"/>
                  </a:schemeClr>
                </a:solidFill>
                <a:effectLst/>
                <a:latin typeface="Consolas" panose="020B0609020204030204" pitchFamily="49" charset="0"/>
              </a:rPr>
              <a:t>	</a:t>
            </a:r>
            <a:r>
              <a:rPr lang="en-US" dirty="0">
                <a:solidFill>
                  <a:schemeClr val="tx2">
                    <a:lumMod val="90000"/>
                  </a:schemeClr>
                </a:solidFill>
              </a:rPr>
              <a:t>pd.concat([...]) stacks the two datasets on top of each other.</a:t>
            </a:r>
          </a:p>
          <a:p>
            <a:pPr marL="0" indent="0">
              <a:lnSpc>
                <a:spcPct val="160000"/>
              </a:lnSpc>
              <a:buNone/>
            </a:pPr>
            <a:r>
              <a:rPr lang="en-US" b="1" dirty="0">
                <a:solidFill>
                  <a:schemeClr val="tx2">
                    <a:lumMod val="90000"/>
                  </a:schemeClr>
                </a:solidFill>
                <a:effectLst/>
                <a:latin typeface="Consolas" panose="020B0609020204030204" pitchFamily="49" charset="0"/>
              </a:rPr>
              <a:t>	</a:t>
            </a:r>
            <a:r>
              <a:rPr lang="en-US" dirty="0">
                <a:solidFill>
                  <a:schemeClr val="tx2">
                    <a:lumMod val="90000"/>
                  </a:schemeClr>
                </a:solidFill>
              </a:rPr>
              <a:t>ignore_index=True resets the row numbering (index) so it runs from 0 to N 	without repeating.</a:t>
            </a:r>
            <a:endParaRPr lang="en-US" b="1" dirty="0">
              <a:solidFill>
                <a:schemeClr val="tx2">
                  <a:lumMod val="90000"/>
                </a:schemeClr>
              </a:solidFill>
              <a:effectLst/>
              <a:latin typeface="Consolas" panose="020B0609020204030204" pitchFamily="49" charset="0"/>
            </a:endParaRPr>
          </a:p>
          <a:p>
            <a:pPr marL="0" indent="0">
              <a:lnSpc>
                <a:spcPct val="160000"/>
              </a:lnSpc>
              <a:buNone/>
            </a:pPr>
            <a:endParaRPr lang="en-US" sz="1800" b="1" dirty="0">
              <a:solidFill>
                <a:schemeClr val="bg1"/>
              </a:solidFill>
              <a:latin typeface="Consolas" panose="020B0609020204030204" pitchFamily="49" charset="0"/>
            </a:endParaRPr>
          </a:p>
          <a:p>
            <a:pPr marL="0" indent="0">
              <a:buNone/>
            </a:pPr>
            <a:r>
              <a:rPr lang="en-US" sz="1800" b="0" dirty="0">
                <a:solidFill>
                  <a:schemeClr val="bg1"/>
                </a:solidFill>
                <a:effectLst/>
                <a:latin typeface="Consolas" panose="020B0609020204030204" pitchFamily="49" charset="0"/>
              </a:rPr>
              <a:t>	</a:t>
            </a:r>
          </a:p>
          <a:p>
            <a:pPr marL="0" indent="0">
              <a:buNone/>
            </a:pPr>
            <a:endParaRPr lang="en-US" sz="1800" b="0" dirty="0">
              <a:solidFill>
                <a:schemeClr val="bg1"/>
              </a:solidFill>
              <a:effectLst/>
              <a:latin typeface="Consolas" panose="020B0609020204030204" pitchFamily="49" charset="0"/>
            </a:endParaRPr>
          </a:p>
          <a:p>
            <a:pPr marL="0" indent="0">
              <a:buNone/>
            </a:pPr>
            <a:endParaRPr lang="en-US" sz="1800" dirty="0"/>
          </a:p>
        </p:txBody>
      </p:sp>
      <p:sp>
        <p:nvSpPr>
          <p:cNvPr id="4" name="Date Placeholder 3">
            <a:extLst>
              <a:ext uri="{FF2B5EF4-FFF2-40B4-BE49-F238E27FC236}">
                <a16:creationId xmlns:a16="http://schemas.microsoft.com/office/drawing/2014/main" id="{CC50FA9C-7B83-24A9-1E28-78D5DDE09BFC}"/>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E919AF11-6157-1AE7-2008-C37F3486DCC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B8EE28A-4750-84B9-B6BA-BCC697BE13B0}"/>
              </a:ext>
            </a:extLst>
          </p:cNvPr>
          <p:cNvSpPr>
            <a:spLocks noGrp="1"/>
          </p:cNvSpPr>
          <p:nvPr>
            <p:ph type="sldNum" sz="quarter" idx="12"/>
          </p:nvPr>
        </p:nvSpPr>
        <p:spPr/>
        <p:txBody>
          <a:bodyPr/>
          <a:lstStyle/>
          <a:p>
            <a:fld id="{7BE69E03-4804-4553-A1EC-F089884EF50F}" type="slidenum">
              <a:rPr lang="en-US" smtClean="0">
                <a:solidFill>
                  <a:schemeClr val="bg1"/>
                </a:solidFill>
              </a:rPr>
              <a:t>3</a:t>
            </a:fld>
            <a:endParaRPr lang="en-US" dirty="0">
              <a:solidFill>
                <a:schemeClr val="bg1"/>
              </a:solidFill>
            </a:endParaRPr>
          </a:p>
        </p:txBody>
      </p:sp>
    </p:spTree>
    <p:extLst>
      <p:ext uri="{BB962C8B-B14F-4D97-AF65-F5344CB8AC3E}">
        <p14:creationId xmlns:p14="http://schemas.microsoft.com/office/powerpoint/2010/main" val="319247528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arn(inVertic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arn(inVertic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arn(inVertic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arn(inVertical)">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barn(inVertical)">
                                      <p:cBhvr>
                                        <p:cTn id="4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EB912-30FC-B0BC-444D-406E258C60F1}"/>
              </a:ext>
            </a:extLst>
          </p:cNvPr>
          <p:cNvSpPr>
            <a:spLocks noGrp="1"/>
          </p:cNvSpPr>
          <p:nvPr>
            <p:ph type="title"/>
          </p:nvPr>
        </p:nvSpPr>
        <p:spPr>
          <a:xfrm>
            <a:off x="440267" y="452718"/>
            <a:ext cx="9610567" cy="767687"/>
          </a:xfrm>
        </p:spPr>
        <p:txBody>
          <a:bodyPr/>
          <a:lstStyle/>
          <a:p>
            <a:pPr marL="571500" indent="-571500">
              <a:buFont typeface="Wingdings" panose="05000000000000000000" pitchFamily="2" charset="2"/>
              <a:buChar char="v"/>
            </a:pPr>
            <a:r>
              <a:rPr lang="en-US" b="1" dirty="0">
                <a:solidFill>
                  <a:schemeClr val="tx1"/>
                </a:solidFill>
              </a:rPr>
              <a:t>D</a:t>
            </a:r>
            <a:r>
              <a:rPr lang="en-US" sz="3200" b="1" dirty="0">
                <a:solidFill>
                  <a:schemeClr val="tx1"/>
                </a:solidFill>
              </a:rPr>
              <a:t>isplay and Rename</a:t>
            </a:r>
            <a:endParaRPr lang="en-US" b="1" dirty="0">
              <a:solidFill>
                <a:schemeClr val="tx1"/>
              </a:solidFill>
            </a:endParaRPr>
          </a:p>
        </p:txBody>
      </p:sp>
      <p:sp>
        <p:nvSpPr>
          <p:cNvPr id="3" name="Content Placeholder 2">
            <a:extLst>
              <a:ext uri="{FF2B5EF4-FFF2-40B4-BE49-F238E27FC236}">
                <a16:creationId xmlns:a16="http://schemas.microsoft.com/office/drawing/2014/main" id="{D4ABEE46-29E5-6F95-A576-17FB7FCFDFA4}"/>
              </a:ext>
            </a:extLst>
          </p:cNvPr>
          <p:cNvSpPr>
            <a:spLocks noGrp="1"/>
          </p:cNvSpPr>
          <p:nvPr>
            <p:ph idx="1"/>
          </p:nvPr>
        </p:nvSpPr>
        <p:spPr>
          <a:xfrm>
            <a:off x="439288" y="1447800"/>
            <a:ext cx="10364050" cy="4800599"/>
          </a:xfrm>
        </p:spPr>
        <p:txBody>
          <a:bodyPr>
            <a:normAutofit/>
          </a:bodyPr>
          <a:lstStyle/>
          <a:p>
            <a:pPr marL="0" indent="0">
              <a:buNone/>
            </a:pPr>
            <a:r>
              <a:rPr lang="en-US" sz="2400" dirty="0"/>
              <a:t>1) </a:t>
            </a:r>
            <a:r>
              <a:rPr lang="en-US" sz="2400" b="1" dirty="0"/>
              <a:t>combined_df.tail():</a:t>
            </a:r>
          </a:p>
          <a:p>
            <a:pPr marL="0" indent="0">
              <a:buNone/>
            </a:pPr>
            <a:r>
              <a:rPr lang="en-US" sz="2400" dirty="0">
                <a:solidFill>
                  <a:schemeClr val="bg1"/>
                </a:solidFill>
              </a:rPr>
              <a:t>	</a:t>
            </a:r>
            <a:r>
              <a:rPr lang="en-US" sz="2400" dirty="0">
                <a:solidFill>
                  <a:schemeClr val="tx2">
                    <a:lumMod val="90000"/>
                  </a:schemeClr>
                </a:solidFill>
              </a:rPr>
              <a:t>Display the </a:t>
            </a:r>
            <a:r>
              <a:rPr lang="en-US" sz="2400" b="1" dirty="0">
                <a:solidFill>
                  <a:schemeClr val="tx2">
                    <a:lumMod val="90000"/>
                  </a:schemeClr>
                </a:solidFill>
              </a:rPr>
              <a:t>last 5 rows</a:t>
            </a:r>
            <a:r>
              <a:rPr lang="en-US" sz="2400" dirty="0">
                <a:solidFill>
                  <a:schemeClr val="tx2">
                    <a:lumMod val="90000"/>
                  </a:schemeClr>
                </a:solidFill>
              </a:rPr>
              <a:t> of the DataFrame,(tail is a </a:t>
            </a:r>
            <a:r>
              <a:rPr lang="en-US" sz="2400" b="1" dirty="0">
                <a:solidFill>
                  <a:schemeClr val="tx2">
                    <a:lumMod val="90000"/>
                  </a:schemeClr>
                </a:solidFill>
              </a:rPr>
              <a:t>Panads 	</a:t>
            </a:r>
            <a:r>
              <a:rPr lang="en-US" sz="2400" dirty="0">
                <a:solidFill>
                  <a:schemeClr val="tx2">
                    <a:lumMod val="90000"/>
                  </a:schemeClr>
                </a:solidFill>
              </a:rPr>
              <a:t>function).</a:t>
            </a:r>
          </a:p>
          <a:p>
            <a:pPr marL="0" indent="0">
              <a:buNone/>
            </a:pPr>
            <a:endParaRPr lang="en-US" sz="2400" dirty="0">
              <a:solidFill>
                <a:schemeClr val="bg1"/>
              </a:solidFill>
            </a:endParaRPr>
          </a:p>
          <a:p>
            <a:pPr marL="0" indent="0">
              <a:buNone/>
            </a:pPr>
            <a:endParaRPr lang="en-US" sz="2400" dirty="0">
              <a:solidFill>
                <a:schemeClr val="bg1"/>
              </a:solidFill>
            </a:endParaRPr>
          </a:p>
          <a:p>
            <a:pPr marL="0" indent="0">
              <a:buNone/>
            </a:pPr>
            <a:endParaRPr lang="en-US" sz="2400" dirty="0">
              <a:solidFill>
                <a:schemeClr val="bg1"/>
              </a:solidFill>
            </a:endParaRPr>
          </a:p>
          <a:p>
            <a:pPr marL="0" indent="0">
              <a:buNone/>
            </a:pPr>
            <a:r>
              <a:rPr lang="en-US" sz="2400" dirty="0"/>
              <a:t>2) </a:t>
            </a:r>
            <a:r>
              <a:rPr lang="en-US" sz="2400" b="1" dirty="0"/>
              <a:t>combined_df.rename:</a:t>
            </a:r>
          </a:p>
          <a:p>
            <a:pPr marL="0" indent="0">
              <a:buNone/>
            </a:pPr>
            <a:r>
              <a:rPr lang="en-US" sz="2400" dirty="0">
                <a:solidFill>
                  <a:schemeClr val="bg1"/>
                </a:solidFill>
              </a:rPr>
              <a:t>	</a:t>
            </a:r>
            <a:r>
              <a:rPr lang="en-US" sz="2400" b="1" dirty="0">
                <a:solidFill>
                  <a:schemeClr val="tx2">
                    <a:lumMod val="90000"/>
                  </a:schemeClr>
                </a:solidFill>
              </a:rPr>
              <a:t>Renames a column</a:t>
            </a:r>
            <a:r>
              <a:rPr lang="en-US" sz="2400" dirty="0">
                <a:solidFill>
                  <a:schemeClr val="tx2">
                    <a:lumMod val="90000"/>
                  </a:schemeClr>
                </a:solidFill>
              </a:rPr>
              <a:t> in the DataFrame (</a:t>
            </a:r>
            <a:r>
              <a:rPr lang="en-US" sz="2400" dirty="0">
                <a:solidFill>
                  <a:schemeClr val="tx2">
                    <a:lumMod val="90000"/>
                  </a:schemeClr>
                </a:solidFill>
                <a:latin typeface="ui-monospace"/>
              </a:rPr>
              <a:t>inplace=True: </a:t>
            </a:r>
            <a:r>
              <a:rPr lang="en-US" sz="2400" dirty="0">
                <a:solidFill>
                  <a:schemeClr val="tx2">
                    <a:lumMod val="90000"/>
                  </a:schemeClr>
                </a:solidFill>
                <a:latin typeface="ui-sans-serif"/>
              </a:rPr>
              <a:t>apply the 	change </a:t>
            </a:r>
            <a:r>
              <a:rPr lang="en-US" sz="2400" b="1" dirty="0">
                <a:solidFill>
                  <a:schemeClr val="tx2">
                    <a:lumMod val="90000"/>
                  </a:schemeClr>
                </a:solidFill>
                <a:latin typeface="ui-sans-serif"/>
              </a:rPr>
              <a:t>directly</a:t>
            </a:r>
            <a:r>
              <a:rPr lang="en-US" sz="2400" dirty="0">
                <a:solidFill>
                  <a:schemeClr val="tx2">
                    <a:lumMod val="90000"/>
                  </a:schemeClr>
                </a:solidFill>
                <a:latin typeface="ui-sans-serif"/>
              </a:rPr>
              <a:t> to </a:t>
            </a:r>
            <a:r>
              <a:rPr lang="en-US" sz="2400" dirty="0">
                <a:solidFill>
                  <a:schemeClr val="tx2">
                    <a:lumMod val="90000"/>
                  </a:schemeClr>
                </a:solidFill>
              </a:rPr>
              <a:t>combined_df</a:t>
            </a:r>
            <a:r>
              <a:rPr lang="en-US" sz="2400" dirty="0">
                <a:solidFill>
                  <a:schemeClr val="tx2">
                    <a:lumMod val="90000"/>
                  </a:schemeClr>
                </a:solidFill>
                <a:latin typeface="ui-sans-serif"/>
              </a:rPr>
              <a:t> </a:t>
            </a:r>
            <a:r>
              <a:rPr lang="en-US" sz="2400" dirty="0">
                <a:solidFill>
                  <a:schemeClr val="tx2">
                    <a:lumMod val="90000"/>
                  </a:schemeClr>
                </a:solidFill>
              </a:rPr>
              <a:t>)</a:t>
            </a:r>
            <a:r>
              <a:rPr lang="en-US" sz="2400" dirty="0">
                <a:solidFill>
                  <a:schemeClr val="tx2">
                    <a:lumMod val="90000"/>
                  </a:schemeClr>
                </a:solidFill>
                <a:latin typeface="ui-sans-serif"/>
              </a:rPr>
              <a:t> 	</a:t>
            </a:r>
            <a:endParaRPr lang="en-US" sz="2400" dirty="0">
              <a:solidFill>
                <a:schemeClr val="tx2">
                  <a:lumMod val="90000"/>
                </a:schemeClr>
              </a:solidFill>
            </a:endParaRPr>
          </a:p>
        </p:txBody>
      </p:sp>
      <p:sp>
        <p:nvSpPr>
          <p:cNvPr id="4" name="Date Placeholder 3">
            <a:extLst>
              <a:ext uri="{FF2B5EF4-FFF2-40B4-BE49-F238E27FC236}">
                <a16:creationId xmlns:a16="http://schemas.microsoft.com/office/drawing/2014/main" id="{18908981-B568-2D5D-5744-899F5C3BF7B7}"/>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289C7EB9-EE55-CEBB-E696-CBE0E79D214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3779684E-D24E-A312-7DE9-72CDAC41DAB4}"/>
              </a:ext>
            </a:extLst>
          </p:cNvPr>
          <p:cNvSpPr>
            <a:spLocks noGrp="1"/>
          </p:cNvSpPr>
          <p:nvPr>
            <p:ph type="sldNum" sz="quarter" idx="12"/>
          </p:nvPr>
        </p:nvSpPr>
        <p:spPr/>
        <p:txBody>
          <a:bodyPr/>
          <a:lstStyle/>
          <a:p>
            <a:fld id="{7BE69E03-4804-4553-A1EC-F089884EF50F}" type="slidenum">
              <a:rPr lang="en-US" smtClean="0">
                <a:solidFill>
                  <a:schemeClr val="bg2"/>
                </a:solidFill>
              </a:rPr>
              <a:t>4</a:t>
            </a:fld>
            <a:endParaRPr lang="en-US" dirty="0">
              <a:solidFill>
                <a:schemeClr val="bg2"/>
              </a:solidFill>
            </a:endParaRPr>
          </a:p>
        </p:txBody>
      </p:sp>
    </p:spTree>
    <p:extLst>
      <p:ext uri="{BB962C8B-B14F-4D97-AF65-F5344CB8AC3E}">
        <p14:creationId xmlns:p14="http://schemas.microsoft.com/office/powerpoint/2010/main" val="142671178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barn(inVertical)">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arn(inVertical)">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931A8-0A05-B276-B7F7-752CAEB08A31}"/>
              </a:ext>
            </a:extLst>
          </p:cNvPr>
          <p:cNvSpPr>
            <a:spLocks noGrp="1"/>
          </p:cNvSpPr>
          <p:nvPr>
            <p:ph type="title"/>
          </p:nvPr>
        </p:nvSpPr>
        <p:spPr>
          <a:xfrm>
            <a:off x="646111" y="452718"/>
            <a:ext cx="9706429" cy="1400530"/>
          </a:xfrm>
        </p:spPr>
        <p:txBody>
          <a:bodyPr/>
          <a:lstStyle/>
          <a:p>
            <a:pPr marL="571500" indent="-571500">
              <a:buFont typeface="Wingdings" panose="05000000000000000000" pitchFamily="2" charset="2"/>
              <a:buChar char="v"/>
            </a:pPr>
            <a:r>
              <a:rPr lang="en-US" sz="3600" b="1" dirty="0">
                <a:solidFill>
                  <a:schemeClr val="tx1"/>
                </a:solidFill>
                <a:effectLst/>
                <a:latin typeface="Consolas" panose="020B0609020204030204" pitchFamily="49" charset="0"/>
              </a:rPr>
              <a:t>C</a:t>
            </a:r>
            <a:r>
              <a:rPr lang="en-US" sz="2800" b="1" dirty="0">
                <a:solidFill>
                  <a:schemeClr val="tx1"/>
                </a:solidFill>
                <a:effectLst/>
                <a:latin typeface="Consolas" panose="020B0609020204030204" pitchFamily="49" charset="0"/>
              </a:rPr>
              <a:t>HECKING</a:t>
            </a:r>
            <a:r>
              <a:rPr lang="en-US" sz="3600" b="1" dirty="0">
                <a:solidFill>
                  <a:schemeClr val="tx1"/>
                </a:solidFill>
                <a:effectLst/>
                <a:latin typeface="Consolas" panose="020B0609020204030204" pitchFamily="49" charset="0"/>
              </a:rPr>
              <a:t> </a:t>
            </a:r>
            <a:r>
              <a:rPr lang="en-US" sz="2800" b="1" dirty="0">
                <a:solidFill>
                  <a:schemeClr val="tx1"/>
                </a:solidFill>
                <a:effectLst/>
                <a:latin typeface="Consolas" panose="020B0609020204030204" pitchFamily="49" charset="0"/>
              </a:rPr>
              <a:t>NULLS </a:t>
            </a:r>
            <a:r>
              <a:rPr lang="en-US" sz="2800" b="1" dirty="0">
                <a:solidFill>
                  <a:schemeClr val="tx1"/>
                </a:solidFill>
                <a:latin typeface="Consolas" panose="020B0609020204030204" pitchFamily="49" charset="0"/>
              </a:rPr>
              <a:t>AND DUPLICATED VALUES AND </a:t>
            </a:r>
            <a:r>
              <a:rPr lang="en-US" sz="2800" b="1" dirty="0">
                <a:solidFill>
                  <a:schemeClr val="tx1"/>
                </a:solidFill>
                <a:effectLst/>
                <a:latin typeface="Consolas" panose="020B0609020204030204" pitchFamily="49" charset="0"/>
              </a:rPr>
              <a:t>HANDING IT</a:t>
            </a:r>
            <a:br>
              <a:rPr lang="en-US" sz="3600" b="0" dirty="0">
                <a:solidFill>
                  <a:srgbClr val="D4D4D4"/>
                </a:solidFill>
                <a:effectLst/>
                <a:latin typeface="Consolas" panose="020B0609020204030204" pitchFamily="49" charset="0"/>
              </a:rPr>
            </a:br>
            <a:endParaRPr lang="en-US" dirty="0"/>
          </a:p>
        </p:txBody>
      </p:sp>
      <p:sp>
        <p:nvSpPr>
          <p:cNvPr id="3" name="Content Placeholder 2">
            <a:extLst>
              <a:ext uri="{FF2B5EF4-FFF2-40B4-BE49-F238E27FC236}">
                <a16:creationId xmlns:a16="http://schemas.microsoft.com/office/drawing/2014/main" id="{5E3E338E-0F06-079E-B0E6-EBDB31AE02F8}"/>
              </a:ext>
            </a:extLst>
          </p:cNvPr>
          <p:cNvSpPr>
            <a:spLocks noGrp="1"/>
          </p:cNvSpPr>
          <p:nvPr>
            <p:ph idx="1"/>
          </p:nvPr>
        </p:nvSpPr>
        <p:spPr>
          <a:xfrm>
            <a:off x="646112" y="1682496"/>
            <a:ext cx="9403742" cy="4904571"/>
          </a:xfrm>
        </p:spPr>
        <p:txBody>
          <a:bodyPr>
            <a:normAutofit fontScale="92500" lnSpcReduction="10000"/>
          </a:bodyPr>
          <a:lstStyle/>
          <a:p>
            <a:pPr marL="0" indent="0">
              <a:buNone/>
            </a:pPr>
            <a:r>
              <a:rPr lang="en-US" dirty="0"/>
              <a:t>1)</a:t>
            </a:r>
            <a:r>
              <a:rPr lang="en-US" b="0" dirty="0">
                <a:solidFill>
                  <a:srgbClr val="9CDCFE"/>
                </a:solidFill>
                <a:effectLst/>
                <a:latin typeface="Consolas" panose="020B0609020204030204" pitchFamily="49" charset="0"/>
              </a:rPr>
              <a:t> </a:t>
            </a:r>
            <a:r>
              <a:rPr lang="en-US" sz="2400" b="1" dirty="0">
                <a:effectLst/>
                <a:latin typeface="Consolas" panose="020B0609020204030204" pitchFamily="49" charset="0"/>
              </a:rPr>
              <a:t>combined_df.drop_duplicates(inplace=True)</a:t>
            </a:r>
            <a:r>
              <a:rPr lang="ar-EG" sz="2400" b="1" dirty="0">
                <a:latin typeface="Consolas" panose="020B0609020204030204" pitchFamily="49" charset="0"/>
              </a:rPr>
              <a:t>:</a:t>
            </a:r>
            <a:endParaRPr lang="en-US" sz="2400" b="1" dirty="0">
              <a:latin typeface="Consolas" panose="020B0609020204030204" pitchFamily="49" charset="0"/>
            </a:endParaRPr>
          </a:p>
          <a:p>
            <a:pPr marL="0" indent="0">
              <a:buNone/>
            </a:pPr>
            <a:r>
              <a:rPr lang="en-US" b="0" dirty="0">
                <a:solidFill>
                  <a:schemeClr val="accent1">
                    <a:lumMod val="90000"/>
                  </a:schemeClr>
                </a:solidFill>
                <a:effectLst/>
                <a:latin typeface="Consolas" panose="020B0609020204030204" pitchFamily="49" charset="0"/>
              </a:rPr>
              <a:t>	</a:t>
            </a:r>
            <a:r>
              <a:rPr lang="en-US" sz="2400" b="1" dirty="0">
                <a:solidFill>
                  <a:schemeClr val="tx2">
                    <a:lumMod val="90000"/>
                  </a:schemeClr>
                </a:solidFill>
                <a:effectLst/>
                <a:latin typeface="ui-sans-serif"/>
              </a:rPr>
              <a:t>R</a:t>
            </a:r>
            <a:r>
              <a:rPr lang="en-US" sz="2400" b="1" dirty="0">
                <a:solidFill>
                  <a:schemeClr val="tx2">
                    <a:lumMod val="90000"/>
                  </a:schemeClr>
                </a:solidFill>
                <a:latin typeface="ui-sans-serif"/>
              </a:rPr>
              <a:t>emoves duplicate rows</a:t>
            </a:r>
            <a:r>
              <a:rPr lang="en-US" sz="2400" dirty="0">
                <a:solidFill>
                  <a:schemeClr val="tx2">
                    <a:lumMod val="90000"/>
                  </a:schemeClr>
                </a:solidFill>
                <a:latin typeface="ui-sans-serif"/>
              </a:rPr>
              <a:t> from the DataFrame.</a:t>
            </a:r>
          </a:p>
          <a:p>
            <a:pPr marL="400050" lvl="1" indent="0">
              <a:buNone/>
            </a:pPr>
            <a:r>
              <a:rPr lang="en-US" sz="2400" dirty="0">
                <a:solidFill>
                  <a:schemeClr val="tx2">
                    <a:lumMod val="90000"/>
                  </a:schemeClr>
                </a:solidFill>
                <a:latin typeface="ui-monospace"/>
              </a:rPr>
              <a:t>	Inplace=True </a:t>
            </a:r>
            <a:r>
              <a:rPr lang="en-US" sz="2400" dirty="0">
                <a:solidFill>
                  <a:schemeClr val="tx2">
                    <a:lumMod val="90000"/>
                  </a:schemeClr>
                </a:solidFill>
                <a:latin typeface="ui-sans-serif"/>
              </a:rPr>
              <a:t>means the changes are made </a:t>
            </a:r>
            <a:r>
              <a:rPr lang="en-US" sz="2400" b="1" dirty="0">
                <a:solidFill>
                  <a:schemeClr val="tx2">
                    <a:lumMod val="90000"/>
                  </a:schemeClr>
                </a:solidFill>
                <a:latin typeface="ui-sans-serif"/>
              </a:rPr>
              <a:t>directly</a:t>
            </a:r>
            <a:r>
              <a:rPr lang="en-US" sz="2400" dirty="0">
                <a:solidFill>
                  <a:schemeClr val="tx2">
                    <a:lumMod val="90000"/>
                  </a:schemeClr>
                </a:solidFill>
                <a:latin typeface="ui-sans-serif"/>
              </a:rPr>
              <a:t> to </a:t>
            </a:r>
            <a:r>
              <a:rPr lang="en-US" sz="2400" dirty="0">
                <a:solidFill>
                  <a:schemeClr val="tx2">
                    <a:lumMod val="90000"/>
                  </a:schemeClr>
                </a:solidFill>
                <a:latin typeface="ui-monospace"/>
              </a:rPr>
              <a:t>combined_df.</a:t>
            </a:r>
            <a:br>
              <a:rPr lang="en-US" dirty="0">
                <a:solidFill>
                  <a:schemeClr val="tx2">
                    <a:lumMod val="90000"/>
                  </a:schemeClr>
                </a:solidFill>
              </a:rPr>
            </a:br>
            <a:endParaRPr lang="en-US" b="0" dirty="0">
              <a:solidFill>
                <a:schemeClr val="tx2">
                  <a:lumMod val="90000"/>
                </a:schemeClr>
              </a:solidFill>
              <a:effectLst/>
              <a:latin typeface="Consolas" panose="020B0609020204030204" pitchFamily="49" charset="0"/>
            </a:endParaRPr>
          </a:p>
          <a:p>
            <a:pPr marL="0" indent="0">
              <a:buNone/>
            </a:pPr>
            <a:r>
              <a:rPr lang="en-US" dirty="0"/>
              <a:t>2) </a:t>
            </a:r>
            <a:r>
              <a:rPr lang="en-US" sz="2800" b="1" dirty="0">
                <a:latin typeface="ui-sans-serif"/>
              </a:rPr>
              <a:t>combined_df.isna().sum():</a:t>
            </a:r>
          </a:p>
          <a:p>
            <a:pPr marL="0" indent="0">
              <a:buNone/>
            </a:pPr>
            <a:r>
              <a:rPr lang="en-US" sz="2800" dirty="0">
                <a:solidFill>
                  <a:schemeClr val="bg1"/>
                </a:solidFill>
                <a:latin typeface="ui-sans-serif"/>
              </a:rPr>
              <a:t>	</a:t>
            </a:r>
            <a:r>
              <a:rPr lang="en-US" sz="2400" dirty="0">
                <a:solidFill>
                  <a:schemeClr val="accent1">
                    <a:lumMod val="90000"/>
                  </a:schemeClr>
                </a:solidFill>
                <a:latin typeface="ui-sans-serif"/>
              </a:rPr>
              <a:t> </a:t>
            </a:r>
            <a:r>
              <a:rPr lang="en-US" sz="2400" dirty="0">
                <a:solidFill>
                  <a:schemeClr val="tx2">
                    <a:lumMod val="90000"/>
                  </a:schemeClr>
                </a:solidFill>
                <a:latin typeface="ui-sans-serif"/>
              </a:rPr>
              <a:t>Checks for </a:t>
            </a:r>
            <a:r>
              <a:rPr lang="en-US" sz="2400" b="1" dirty="0">
                <a:solidFill>
                  <a:schemeClr val="tx2">
                    <a:lumMod val="90000"/>
                  </a:schemeClr>
                </a:solidFill>
                <a:latin typeface="ui-sans-serif"/>
              </a:rPr>
              <a:t>missing values (NaNs)</a:t>
            </a:r>
            <a:r>
              <a:rPr lang="en-US" sz="2400" dirty="0">
                <a:solidFill>
                  <a:schemeClr val="tx2">
                    <a:lumMod val="90000"/>
                  </a:schemeClr>
                </a:solidFill>
                <a:latin typeface="ui-sans-serif"/>
              </a:rPr>
              <a:t> in the DataFrame and gives you 	a </a:t>
            </a:r>
            <a:r>
              <a:rPr lang="en-US" sz="2400" b="1" dirty="0">
                <a:solidFill>
                  <a:schemeClr val="tx2">
                    <a:lumMod val="90000"/>
                  </a:schemeClr>
                </a:solidFill>
                <a:latin typeface="ui-sans-serif"/>
              </a:rPr>
              <a:t>count 	of missing values in each column</a:t>
            </a:r>
            <a:r>
              <a:rPr lang="en-US" sz="2400" dirty="0">
                <a:solidFill>
                  <a:schemeClr val="tx2">
                    <a:lumMod val="90000"/>
                  </a:schemeClr>
                </a:solidFill>
                <a:latin typeface="ui-sans-serif"/>
              </a:rPr>
              <a:t>.</a:t>
            </a:r>
          </a:p>
          <a:p>
            <a:pPr marL="0" indent="0">
              <a:buNone/>
            </a:pPr>
            <a:r>
              <a:rPr lang="en-US" sz="2400" dirty="0"/>
              <a:t>3) </a:t>
            </a:r>
            <a:r>
              <a:rPr lang="en-US" sz="2400" b="1" dirty="0">
                <a:effectLst/>
                <a:latin typeface="Consolas" panose="020B0609020204030204" pitchFamily="49" charset="0"/>
              </a:rPr>
              <a:t>combined_df.dropna(inplace=True):</a:t>
            </a:r>
          </a:p>
          <a:p>
            <a:pPr marL="0" indent="0">
              <a:buNone/>
            </a:pPr>
            <a:r>
              <a:rPr lang="en-US" sz="2400" b="0" dirty="0">
                <a:solidFill>
                  <a:schemeClr val="bg1">
                    <a:lumMod val="95000"/>
                    <a:lumOff val="5000"/>
                  </a:schemeClr>
                </a:solidFill>
                <a:effectLst/>
                <a:latin typeface="Consolas" panose="020B0609020204030204" pitchFamily="49" charset="0"/>
              </a:rPr>
              <a:t>	</a:t>
            </a:r>
            <a:r>
              <a:rPr lang="en-US" sz="2400" b="1" dirty="0">
                <a:solidFill>
                  <a:schemeClr val="tx2">
                    <a:lumMod val="90000"/>
                  </a:schemeClr>
                </a:solidFill>
                <a:latin typeface="ui-sans-serif"/>
              </a:rPr>
              <a:t>Removes all rows that contain any missing (NaN) values</a:t>
            </a:r>
            <a:r>
              <a:rPr lang="en-US" sz="2400" dirty="0">
                <a:solidFill>
                  <a:schemeClr val="tx2">
                    <a:lumMod val="90000"/>
                  </a:schemeClr>
                </a:solidFill>
                <a:latin typeface="ui-sans-serif"/>
              </a:rPr>
              <a:t> from the</a:t>
            </a:r>
          </a:p>
          <a:p>
            <a:pPr marL="0" indent="0">
              <a:buNone/>
            </a:pPr>
            <a:r>
              <a:rPr lang="en-US" sz="2400" dirty="0">
                <a:solidFill>
                  <a:schemeClr val="tx2">
                    <a:lumMod val="90000"/>
                  </a:schemeClr>
                </a:solidFill>
                <a:latin typeface="ui-sans-serif"/>
              </a:rPr>
              <a:t>	DataFrame.</a:t>
            </a:r>
          </a:p>
          <a:p>
            <a:pPr marL="0" indent="0">
              <a:buNone/>
            </a:pPr>
            <a:r>
              <a:rPr lang="en-US" sz="2400" b="0" dirty="0">
                <a:solidFill>
                  <a:srgbClr val="FFFFFF"/>
                </a:solidFill>
                <a:effectLst/>
                <a:latin typeface="ui-sans-serif"/>
              </a:rPr>
              <a:t>4) </a:t>
            </a:r>
            <a:r>
              <a:rPr lang="en-US" sz="2400" b="1" dirty="0">
                <a:latin typeface="ui-sans-serif"/>
              </a:rPr>
              <a:t>print(combined_df.duplicated().sum()):</a:t>
            </a:r>
          </a:p>
          <a:p>
            <a:pPr marL="0" indent="0">
              <a:buNone/>
            </a:pPr>
            <a:r>
              <a:rPr lang="en-US" sz="2400" b="1" dirty="0">
                <a:solidFill>
                  <a:schemeClr val="bg1">
                    <a:lumMod val="95000"/>
                    <a:lumOff val="5000"/>
                  </a:schemeClr>
                </a:solidFill>
                <a:latin typeface="ui-sans-serif"/>
              </a:rPr>
              <a:t>	</a:t>
            </a:r>
            <a:r>
              <a:rPr lang="en-US" sz="2400" dirty="0">
                <a:solidFill>
                  <a:srgbClr val="FFFFFF"/>
                </a:solidFill>
                <a:latin typeface="ui-sans-serif"/>
              </a:rPr>
              <a:t> </a:t>
            </a:r>
            <a:r>
              <a:rPr lang="en-US" sz="2400" b="1" dirty="0">
                <a:solidFill>
                  <a:schemeClr val="tx2">
                    <a:lumMod val="90000"/>
                  </a:schemeClr>
                </a:solidFill>
                <a:latin typeface="ui-sans-serif"/>
              </a:rPr>
              <a:t>Counts and prints</a:t>
            </a:r>
            <a:r>
              <a:rPr lang="en-US" sz="2400" dirty="0">
                <a:solidFill>
                  <a:schemeClr val="tx2">
                    <a:lumMod val="90000"/>
                  </a:schemeClr>
                </a:solidFill>
                <a:latin typeface="ui-sans-serif"/>
              </a:rPr>
              <a:t> how many </a:t>
            </a:r>
            <a:r>
              <a:rPr lang="en-US" sz="2400" b="1" dirty="0">
                <a:solidFill>
                  <a:schemeClr val="tx2">
                    <a:lumMod val="90000"/>
                  </a:schemeClr>
                </a:solidFill>
                <a:latin typeface="ui-sans-serif"/>
              </a:rPr>
              <a:t>duplicate rows</a:t>
            </a:r>
            <a:r>
              <a:rPr lang="en-US" sz="2400" dirty="0">
                <a:solidFill>
                  <a:schemeClr val="tx2">
                    <a:lumMod val="90000"/>
                  </a:schemeClr>
                </a:solidFill>
                <a:latin typeface="ui-sans-serif"/>
              </a:rPr>
              <a:t> still exist in the DataFrame.</a:t>
            </a:r>
            <a:endParaRPr lang="en-US" sz="2400" b="1" dirty="0">
              <a:solidFill>
                <a:schemeClr val="tx2">
                  <a:lumMod val="90000"/>
                </a:schemeClr>
              </a:solidFill>
              <a:latin typeface="ui-sans-serif"/>
            </a:endParaRPr>
          </a:p>
          <a:p>
            <a:pPr marL="0" indent="0">
              <a:buNone/>
            </a:pPr>
            <a:endParaRPr lang="en-US" sz="2400" b="0" dirty="0">
              <a:solidFill>
                <a:schemeClr val="bg1">
                  <a:lumMod val="95000"/>
                  <a:lumOff val="5000"/>
                </a:schemeClr>
              </a:solidFill>
              <a:effectLst/>
              <a:latin typeface="Consolas" panose="020B0609020204030204" pitchFamily="49" charset="0"/>
            </a:endParaRPr>
          </a:p>
          <a:p>
            <a:pPr marL="0" indent="0">
              <a:buNone/>
            </a:pPr>
            <a:endParaRPr lang="en-US" sz="2400" b="0" dirty="0">
              <a:solidFill>
                <a:schemeClr val="bg1">
                  <a:lumMod val="95000"/>
                  <a:lumOff val="5000"/>
                </a:schemeClr>
              </a:solidFill>
              <a:effectLst/>
              <a:latin typeface="Consolas" panose="020B0609020204030204" pitchFamily="49" charset="0"/>
            </a:endParaRPr>
          </a:p>
          <a:p>
            <a:pPr marL="0" indent="0">
              <a:buNone/>
            </a:pPr>
            <a:endParaRPr lang="en-US" sz="2400" b="0" dirty="0">
              <a:solidFill>
                <a:schemeClr val="bg1">
                  <a:lumMod val="95000"/>
                  <a:lumOff val="5000"/>
                </a:schemeClr>
              </a:solidFill>
              <a:effectLst/>
              <a:latin typeface="Consolas" panose="020B0609020204030204" pitchFamily="49" charset="0"/>
            </a:endParaRPr>
          </a:p>
          <a:p>
            <a:pPr marL="0" indent="0">
              <a:buNone/>
            </a:pPr>
            <a:endParaRPr lang="en-US" sz="2800" dirty="0">
              <a:solidFill>
                <a:schemeClr val="bg1"/>
              </a:solidFill>
              <a:latin typeface="ui-sans-serif"/>
            </a:endParaRPr>
          </a:p>
          <a:p>
            <a:pPr marL="0" indent="0">
              <a:buNone/>
            </a:pPr>
            <a:endParaRPr lang="en-US" dirty="0"/>
          </a:p>
        </p:txBody>
      </p:sp>
      <p:sp>
        <p:nvSpPr>
          <p:cNvPr id="4" name="Date Placeholder 3">
            <a:extLst>
              <a:ext uri="{FF2B5EF4-FFF2-40B4-BE49-F238E27FC236}">
                <a16:creationId xmlns:a16="http://schemas.microsoft.com/office/drawing/2014/main" id="{44B83BB9-0A81-5594-56EE-37A2376CF673}"/>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B7EB765C-26CC-3674-C263-8ACBFC9DAC09}"/>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7DA96FC-A844-3619-F248-6560A4A99D1A}"/>
              </a:ext>
            </a:extLst>
          </p:cNvPr>
          <p:cNvSpPr>
            <a:spLocks noGrp="1"/>
          </p:cNvSpPr>
          <p:nvPr>
            <p:ph type="sldNum" sz="quarter" idx="12"/>
          </p:nvPr>
        </p:nvSpPr>
        <p:spPr/>
        <p:txBody>
          <a:bodyPr/>
          <a:lstStyle/>
          <a:p>
            <a:fld id="{7BE69E03-4804-4553-A1EC-F089884EF50F}" type="slidenum">
              <a:rPr lang="en-US" smtClean="0">
                <a:solidFill>
                  <a:schemeClr val="bg2"/>
                </a:solidFill>
              </a:rPr>
              <a:t>5</a:t>
            </a:fld>
            <a:endParaRPr lang="en-US" dirty="0">
              <a:solidFill>
                <a:schemeClr val="bg2"/>
              </a:solidFill>
            </a:endParaRPr>
          </a:p>
        </p:txBody>
      </p:sp>
    </p:spTree>
    <p:extLst>
      <p:ext uri="{BB962C8B-B14F-4D97-AF65-F5344CB8AC3E}">
        <p14:creationId xmlns:p14="http://schemas.microsoft.com/office/powerpoint/2010/main" val="95091554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ircle(in)">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ircle(in)">
                                      <p:cBhvr>
                                        <p:cTn id="17" dur="2000"/>
                                        <p:tgtEl>
                                          <p:spTgt spid="3">
                                            <p:txEl>
                                              <p:pRg st="1" end="1"/>
                                            </p:txEl>
                                          </p:spTgt>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circle(in)">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circle(in)">
                                      <p:cBhvr>
                                        <p:cTn id="25" dur="20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circle(in)">
                                      <p:cBhvr>
                                        <p:cTn id="30" dur="20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circle(in)">
                                      <p:cBhvr>
                                        <p:cTn id="35" dur="20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grpId="0"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circle(in)">
                                      <p:cBhvr>
                                        <p:cTn id="40" dur="2000"/>
                                        <p:tgtEl>
                                          <p:spTgt spid="3">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grpId="0"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Effect transition="in" filter="circle(in)">
                                      <p:cBhvr>
                                        <p:cTn id="45" dur="2000"/>
                                        <p:tgtEl>
                                          <p:spTgt spid="3">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6" presetClass="entr" presetSubtype="16" fill="hold" grpId="0" nodeType="clickEffect">
                                  <p:stCondLst>
                                    <p:cond delay="0"/>
                                  </p:stCondLst>
                                  <p:childTnLst>
                                    <p:set>
                                      <p:cBhvr>
                                        <p:cTn id="49" dur="1" fill="hold">
                                          <p:stCondLst>
                                            <p:cond delay="0"/>
                                          </p:stCondLst>
                                        </p:cTn>
                                        <p:tgtEl>
                                          <p:spTgt spid="3">
                                            <p:txEl>
                                              <p:pRg st="8" end="8"/>
                                            </p:txEl>
                                          </p:spTgt>
                                        </p:tgtEl>
                                        <p:attrNameLst>
                                          <p:attrName>style.visibility</p:attrName>
                                        </p:attrNameLst>
                                      </p:cBhvr>
                                      <p:to>
                                        <p:strVal val="visible"/>
                                      </p:to>
                                    </p:set>
                                    <p:animEffect transition="in" filter="circle(in)">
                                      <p:cBhvr>
                                        <p:cTn id="50" dur="2000"/>
                                        <p:tgtEl>
                                          <p:spTgt spid="3">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6" presetClass="entr" presetSubtype="16" fill="hold" grpId="0"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Effect transition="in" filter="circle(in)">
                                      <p:cBhvr>
                                        <p:cTn id="55"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69523-180A-5F3B-17F1-479C9519098E}"/>
              </a:ext>
            </a:extLst>
          </p:cNvPr>
          <p:cNvSpPr>
            <a:spLocks noGrp="1"/>
          </p:cNvSpPr>
          <p:nvPr>
            <p:ph type="title"/>
          </p:nvPr>
        </p:nvSpPr>
        <p:spPr>
          <a:xfrm>
            <a:off x="256033" y="452718"/>
            <a:ext cx="9794802" cy="995082"/>
          </a:xfrm>
        </p:spPr>
        <p:txBody>
          <a:bodyPr/>
          <a:lstStyle/>
          <a:p>
            <a:pPr marL="571500" indent="-571500">
              <a:buFont typeface="Wingdings" panose="05000000000000000000" pitchFamily="2" charset="2"/>
              <a:buChar char="v"/>
            </a:pPr>
            <a:r>
              <a:rPr lang="en-US" sz="4800" b="1" dirty="0">
                <a:solidFill>
                  <a:schemeClr val="tx1"/>
                </a:solidFill>
                <a:effectLst/>
                <a:latin typeface="Consolas" panose="020B0609020204030204" pitchFamily="49" charset="0"/>
              </a:rPr>
              <a:t>F</a:t>
            </a:r>
            <a:r>
              <a:rPr lang="en-US" sz="3200" b="1" dirty="0">
                <a:solidFill>
                  <a:schemeClr val="tx1"/>
                </a:solidFill>
                <a:effectLst/>
                <a:latin typeface="Consolas" panose="020B0609020204030204" pitchFamily="49" charset="0"/>
              </a:rPr>
              <a:t>EATURE</a:t>
            </a:r>
            <a:r>
              <a:rPr lang="en-US" sz="3200" b="1" dirty="0">
                <a:solidFill>
                  <a:schemeClr val="tx1"/>
                </a:solidFill>
                <a:latin typeface="Consolas" panose="020B0609020204030204" pitchFamily="49" charset="0"/>
              </a:rPr>
              <a:t> </a:t>
            </a:r>
            <a:r>
              <a:rPr lang="en-US" sz="3200" b="1" dirty="0">
                <a:solidFill>
                  <a:schemeClr val="tx1"/>
                </a:solidFill>
                <a:effectLst/>
                <a:latin typeface="Consolas" panose="020B0609020204030204" pitchFamily="49" charset="0"/>
              </a:rPr>
              <a:t>SELECTION</a:t>
            </a:r>
            <a:br>
              <a:rPr lang="en-US" b="0" dirty="0">
                <a:solidFill>
                  <a:srgbClr val="D4D4D4"/>
                </a:solidFill>
                <a:effectLst/>
                <a:latin typeface="Consolas" panose="020B0609020204030204" pitchFamily="49" charset="0"/>
              </a:rPr>
            </a:br>
            <a:endParaRPr lang="en-US" dirty="0">
              <a:solidFill>
                <a:schemeClr val="bg1"/>
              </a:solidFill>
            </a:endParaRPr>
          </a:p>
        </p:txBody>
      </p:sp>
      <p:sp>
        <p:nvSpPr>
          <p:cNvPr id="3" name="Content Placeholder 2">
            <a:extLst>
              <a:ext uri="{FF2B5EF4-FFF2-40B4-BE49-F238E27FC236}">
                <a16:creationId xmlns:a16="http://schemas.microsoft.com/office/drawing/2014/main" id="{487EFC15-5CC8-F52F-8E88-F9AB2F31344F}"/>
              </a:ext>
            </a:extLst>
          </p:cNvPr>
          <p:cNvSpPr>
            <a:spLocks noGrp="1"/>
          </p:cNvSpPr>
          <p:nvPr>
            <p:ph idx="1"/>
          </p:nvPr>
        </p:nvSpPr>
        <p:spPr>
          <a:xfrm>
            <a:off x="256033" y="1284514"/>
            <a:ext cx="10963233" cy="5277757"/>
          </a:xfrm>
        </p:spPr>
        <p:txBody>
          <a:bodyPr>
            <a:normAutofit/>
          </a:bodyPr>
          <a:lstStyle/>
          <a:p>
            <a:pPr marL="0" indent="0">
              <a:buNone/>
            </a:pPr>
            <a:r>
              <a:rPr lang="en-US" sz="2800" dirty="0"/>
              <a:t>1) </a:t>
            </a:r>
            <a:r>
              <a:rPr lang="en-US" sz="3200" b="1" dirty="0"/>
              <a:t>SelectKBest:</a:t>
            </a:r>
          </a:p>
          <a:p>
            <a:pPr marL="0" indent="0">
              <a:buNone/>
            </a:pPr>
            <a:r>
              <a:rPr lang="en-US" sz="3200" dirty="0">
                <a:solidFill>
                  <a:schemeClr val="bg1"/>
                </a:solidFill>
              </a:rPr>
              <a:t>	</a:t>
            </a:r>
            <a:r>
              <a:rPr lang="en-US" sz="2400" dirty="0">
                <a:solidFill>
                  <a:schemeClr val="tx2">
                    <a:lumMod val="90000"/>
                  </a:schemeClr>
                </a:solidFill>
              </a:rPr>
              <a:t>Allows pick the top K best features</a:t>
            </a:r>
            <a:r>
              <a:rPr lang="en-US" sz="3200" dirty="0">
                <a:solidFill>
                  <a:schemeClr val="tx2">
                    <a:lumMod val="90000"/>
                  </a:schemeClr>
                </a:solidFill>
                <a:latin typeface="ui-sans-serif"/>
              </a:rPr>
              <a:t> </a:t>
            </a:r>
            <a:r>
              <a:rPr lang="en-US" sz="2800" dirty="0">
                <a:solidFill>
                  <a:schemeClr val="tx2">
                    <a:lumMod val="90000"/>
                  </a:schemeClr>
                </a:solidFill>
                <a:latin typeface="ui-sans-serif"/>
              </a:rPr>
              <a:t>based on a scoring method.</a:t>
            </a:r>
          </a:p>
          <a:p>
            <a:pPr marL="0" indent="0">
              <a:buNone/>
            </a:pPr>
            <a:r>
              <a:rPr lang="en-US" sz="2800" dirty="0">
                <a:solidFill>
                  <a:srgbClr val="FFFFFF"/>
                </a:solidFill>
                <a:latin typeface="ui-sans-serif"/>
              </a:rPr>
              <a:t>2) </a:t>
            </a:r>
            <a:r>
              <a:rPr lang="en-US" sz="2800" b="1" dirty="0">
                <a:latin typeface="ui-sans-serif"/>
              </a:rPr>
              <a:t>chi2:</a:t>
            </a:r>
            <a:endParaRPr lang="en-US" sz="3000" b="1" dirty="0"/>
          </a:p>
          <a:p>
            <a:pPr marL="0" indent="0">
              <a:buNone/>
            </a:pPr>
            <a:r>
              <a:rPr lang="en-US" sz="3000" dirty="0">
                <a:solidFill>
                  <a:schemeClr val="bg1"/>
                </a:solidFill>
              </a:rPr>
              <a:t>	</a:t>
            </a:r>
            <a:r>
              <a:rPr lang="en-US" sz="2400" dirty="0">
                <a:solidFill>
                  <a:schemeClr val="tx2">
                    <a:lumMod val="90000"/>
                  </a:schemeClr>
                </a:solidFill>
                <a:latin typeface="ui-sans-serif"/>
              </a:rPr>
              <a:t> Is the </a:t>
            </a:r>
            <a:r>
              <a:rPr lang="en-US" sz="2400" b="1" dirty="0">
                <a:solidFill>
                  <a:schemeClr val="tx2">
                    <a:lumMod val="90000"/>
                  </a:schemeClr>
                </a:solidFill>
                <a:latin typeface="ui-sans-serif"/>
              </a:rPr>
              <a:t>Chi-squared test</a:t>
            </a:r>
            <a:r>
              <a:rPr lang="en-US" sz="2400" dirty="0">
                <a:solidFill>
                  <a:schemeClr val="tx2">
                    <a:lumMod val="90000"/>
                  </a:schemeClr>
                </a:solidFill>
                <a:latin typeface="ui-sans-serif"/>
              </a:rPr>
              <a:t>, a statistical test that works with </a:t>
            </a:r>
            <a:r>
              <a:rPr lang="en-US" sz="2400" b="1" dirty="0">
                <a:solidFill>
                  <a:schemeClr val="tx2">
                    <a:lumMod val="90000"/>
                  </a:schemeClr>
                </a:solidFill>
                <a:latin typeface="ui-sans-serif"/>
              </a:rPr>
              <a:t>categorical target 		variables</a:t>
            </a:r>
            <a:r>
              <a:rPr lang="en-US" sz="2400" dirty="0">
                <a:solidFill>
                  <a:schemeClr val="tx2">
                    <a:lumMod val="90000"/>
                  </a:schemeClr>
                </a:solidFill>
                <a:latin typeface="ui-sans-serif"/>
              </a:rPr>
              <a:t>.</a:t>
            </a:r>
          </a:p>
          <a:p>
            <a:pPr marL="0" indent="0">
              <a:buNone/>
            </a:pPr>
            <a:r>
              <a:rPr lang="en-US" sz="2800" dirty="0">
                <a:solidFill>
                  <a:srgbClr val="FFFFFF"/>
                </a:solidFill>
                <a:latin typeface="ui-sans-serif"/>
              </a:rPr>
              <a:t>3) </a:t>
            </a:r>
            <a:r>
              <a:rPr lang="en-US" sz="2800" b="1" dirty="0">
                <a:latin typeface="ui-sans-serif"/>
              </a:rPr>
              <a:t>X</a:t>
            </a:r>
            <a:r>
              <a:rPr lang="en-US" sz="2800" b="1" dirty="0">
                <a:latin typeface="ui-monospace"/>
              </a:rPr>
              <a:t>test = combined_df.drop('ObesityLevel', axis=1):</a:t>
            </a:r>
            <a:endParaRPr lang="en-US" sz="2800" b="1" dirty="0">
              <a:latin typeface="ui-sans-serif"/>
            </a:endParaRPr>
          </a:p>
          <a:p>
            <a:pPr marL="0" indent="0">
              <a:buNone/>
            </a:pPr>
            <a:r>
              <a:rPr lang="en-US" sz="2800" dirty="0">
                <a:solidFill>
                  <a:schemeClr val="bg1"/>
                </a:solidFill>
                <a:latin typeface="ui-sans-serif"/>
              </a:rPr>
              <a:t>	</a:t>
            </a:r>
            <a:r>
              <a:rPr lang="en-US" sz="2800" dirty="0">
                <a:solidFill>
                  <a:schemeClr val="tx2">
                    <a:lumMod val="90000"/>
                  </a:schemeClr>
                </a:solidFill>
                <a:latin typeface="ui-sans-serif"/>
              </a:rPr>
              <a:t>You’re removing the target columnto create the </a:t>
            </a:r>
            <a:r>
              <a:rPr lang="en-US" sz="2800" b="1" dirty="0">
                <a:solidFill>
                  <a:schemeClr val="tx2">
                    <a:lumMod val="90000"/>
                  </a:schemeClr>
                </a:solidFill>
                <a:latin typeface="ui-sans-serif"/>
              </a:rPr>
              <a:t>feature set 	xtest.</a:t>
            </a:r>
          </a:p>
          <a:p>
            <a:pPr marL="0" indent="0">
              <a:buNone/>
            </a:pPr>
            <a:r>
              <a:rPr lang="en-US" sz="2800" dirty="0">
                <a:solidFill>
                  <a:srgbClr val="FFFFFF"/>
                </a:solidFill>
                <a:latin typeface="ui-sans-serif"/>
              </a:rPr>
              <a:t>4)</a:t>
            </a:r>
            <a:r>
              <a:rPr lang="en-US" sz="2800" dirty="0">
                <a:solidFill>
                  <a:srgbClr val="FFFFFF"/>
                </a:solidFill>
                <a:latin typeface="ui-monospace"/>
              </a:rPr>
              <a:t> </a:t>
            </a:r>
            <a:r>
              <a:rPr lang="en-US" sz="2800" b="1" dirty="0">
                <a:latin typeface="ui-monospace"/>
              </a:rPr>
              <a:t>y = combined_df['ObesityLevel’]:</a:t>
            </a:r>
            <a:endParaRPr lang="en-US" sz="2800" b="1" dirty="0">
              <a:latin typeface="ui-sans-serif"/>
            </a:endParaRPr>
          </a:p>
          <a:p>
            <a:pPr marL="0" indent="0">
              <a:buNone/>
            </a:pPr>
            <a:r>
              <a:rPr lang="en-US" sz="2800" dirty="0">
                <a:solidFill>
                  <a:schemeClr val="accent1">
                    <a:lumMod val="90000"/>
                  </a:schemeClr>
                </a:solidFill>
                <a:latin typeface="ui-sans-serif"/>
              </a:rPr>
              <a:t>	</a:t>
            </a:r>
            <a:r>
              <a:rPr lang="en-US" sz="2800" dirty="0">
                <a:solidFill>
                  <a:schemeClr val="tx2">
                    <a:lumMod val="90000"/>
                  </a:schemeClr>
                </a:solidFill>
                <a:latin typeface="ui-sans-serif"/>
              </a:rPr>
              <a:t>This is your </a:t>
            </a:r>
            <a:r>
              <a:rPr lang="en-US" sz="2800" b="1" dirty="0">
                <a:solidFill>
                  <a:schemeClr val="tx2">
                    <a:lumMod val="90000"/>
                  </a:schemeClr>
                </a:solidFill>
                <a:latin typeface="ui-sans-serif"/>
              </a:rPr>
              <a:t>target variable</a:t>
            </a:r>
            <a:r>
              <a:rPr lang="en-US" sz="2800" dirty="0">
                <a:solidFill>
                  <a:schemeClr val="tx2">
                    <a:lumMod val="90000"/>
                  </a:schemeClr>
                </a:solidFill>
                <a:latin typeface="ui-sans-serif"/>
              </a:rPr>
              <a:t> (what you want to predict)</a:t>
            </a:r>
            <a:r>
              <a:rPr lang="en-US" sz="2800" b="1" dirty="0">
                <a:solidFill>
                  <a:schemeClr val="tx2">
                    <a:lumMod val="90000"/>
                  </a:schemeClr>
                </a:solidFill>
                <a:latin typeface="ui-sans-serif"/>
              </a:rPr>
              <a:t>.</a:t>
            </a:r>
            <a:endParaRPr lang="en-US" sz="2800" dirty="0">
              <a:solidFill>
                <a:schemeClr val="tx2">
                  <a:lumMod val="90000"/>
                </a:schemeClr>
              </a:solidFill>
              <a:latin typeface="ui-sans-serif"/>
            </a:endParaRPr>
          </a:p>
          <a:p>
            <a:pPr marL="0" indent="0">
              <a:buNone/>
            </a:pPr>
            <a:endParaRPr lang="en-US" sz="2800" dirty="0">
              <a:solidFill>
                <a:schemeClr val="bg1">
                  <a:lumMod val="95000"/>
                  <a:lumOff val="5000"/>
                </a:schemeClr>
              </a:solidFill>
            </a:endParaRPr>
          </a:p>
        </p:txBody>
      </p:sp>
      <p:sp>
        <p:nvSpPr>
          <p:cNvPr id="4" name="Date Placeholder 3">
            <a:extLst>
              <a:ext uri="{FF2B5EF4-FFF2-40B4-BE49-F238E27FC236}">
                <a16:creationId xmlns:a16="http://schemas.microsoft.com/office/drawing/2014/main" id="{FD4A3D16-895C-02D0-C825-2F9544A75600}"/>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E861495F-9742-C677-2107-E71A9ACDDA11}"/>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3017DFB2-C0FA-A00D-1F2F-7EF2633C0C0E}"/>
              </a:ext>
            </a:extLst>
          </p:cNvPr>
          <p:cNvSpPr>
            <a:spLocks noGrp="1"/>
          </p:cNvSpPr>
          <p:nvPr>
            <p:ph type="sldNum" sz="quarter" idx="12"/>
          </p:nvPr>
        </p:nvSpPr>
        <p:spPr/>
        <p:txBody>
          <a:bodyPr/>
          <a:lstStyle/>
          <a:p>
            <a:fld id="{7BE69E03-4804-4553-A1EC-F089884EF50F}" type="slidenum">
              <a:rPr lang="en-US" smtClean="0">
                <a:solidFill>
                  <a:schemeClr val="bg2"/>
                </a:solidFill>
              </a:rPr>
              <a:t>6</a:t>
            </a:fld>
            <a:endParaRPr lang="en-US" dirty="0">
              <a:solidFill>
                <a:schemeClr val="bg2"/>
              </a:solidFill>
            </a:endParaRPr>
          </a:p>
        </p:txBody>
      </p:sp>
    </p:spTree>
    <p:extLst>
      <p:ext uri="{BB962C8B-B14F-4D97-AF65-F5344CB8AC3E}">
        <p14:creationId xmlns:p14="http://schemas.microsoft.com/office/powerpoint/2010/main" val="14661367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EED91B-C25E-DAC9-191A-7F7535C4BF3D}"/>
              </a:ext>
            </a:extLst>
          </p:cNvPr>
          <p:cNvSpPr>
            <a:spLocks noGrp="1"/>
          </p:cNvSpPr>
          <p:nvPr>
            <p:ph type="dt" sz="half" idx="10"/>
          </p:nvPr>
        </p:nvSpPr>
        <p:spPr/>
        <p:txBody>
          <a:bodyPr/>
          <a:lstStyle/>
          <a:p>
            <a:fld id="{4EE98B79-F222-4FD1-8713-07459E1B5004}" type="datetime2">
              <a:rPr lang="en-US" smtClean="0"/>
              <a:t>Sunday, May 18, 2025</a:t>
            </a:fld>
            <a:endParaRPr lang="en-US" dirty="0"/>
          </a:p>
        </p:txBody>
      </p:sp>
      <p:sp>
        <p:nvSpPr>
          <p:cNvPr id="3" name="Footer Placeholder 2">
            <a:extLst>
              <a:ext uri="{FF2B5EF4-FFF2-40B4-BE49-F238E27FC236}">
                <a16:creationId xmlns:a16="http://schemas.microsoft.com/office/drawing/2014/main" id="{C5AFD190-267E-C588-D8DC-DA99F66F4A44}"/>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2F678FCD-B69D-70DC-7FE2-3D7B6A6A991B}"/>
              </a:ext>
            </a:extLst>
          </p:cNvPr>
          <p:cNvSpPr>
            <a:spLocks noGrp="1"/>
          </p:cNvSpPr>
          <p:nvPr>
            <p:ph type="sldNum" sz="quarter" idx="12"/>
          </p:nvPr>
        </p:nvSpPr>
        <p:spPr/>
        <p:txBody>
          <a:bodyPr/>
          <a:lstStyle/>
          <a:p>
            <a:fld id="{7BE69E03-4804-4553-A1EC-F089884EF50F}" type="slidenum">
              <a:rPr lang="en-US" smtClean="0">
                <a:solidFill>
                  <a:schemeClr val="bg2"/>
                </a:solidFill>
              </a:rPr>
              <a:t>7</a:t>
            </a:fld>
            <a:endParaRPr lang="en-US" dirty="0">
              <a:solidFill>
                <a:schemeClr val="bg2"/>
              </a:solidFill>
            </a:endParaRPr>
          </a:p>
        </p:txBody>
      </p:sp>
      <p:sp>
        <p:nvSpPr>
          <p:cNvPr id="6" name="TextBox 5">
            <a:extLst>
              <a:ext uri="{FF2B5EF4-FFF2-40B4-BE49-F238E27FC236}">
                <a16:creationId xmlns:a16="http://schemas.microsoft.com/office/drawing/2014/main" id="{DED3A85A-4F52-8B3B-4951-633B4AC7EE42}"/>
              </a:ext>
            </a:extLst>
          </p:cNvPr>
          <p:cNvSpPr txBox="1"/>
          <p:nvPr/>
        </p:nvSpPr>
        <p:spPr>
          <a:xfrm>
            <a:off x="512064" y="1161127"/>
            <a:ext cx="9445752" cy="2554545"/>
          </a:xfrm>
          <a:prstGeom prst="rect">
            <a:avLst/>
          </a:prstGeom>
          <a:noFill/>
        </p:spPr>
        <p:txBody>
          <a:bodyPr wrap="square">
            <a:spAutoFit/>
          </a:bodyPr>
          <a:lstStyle/>
          <a:p>
            <a:pPr marL="0" indent="0">
              <a:buNone/>
            </a:pPr>
            <a:r>
              <a:rPr lang="en-US" sz="3200" dirty="0">
                <a:solidFill>
                  <a:srgbClr val="FFFFFF"/>
                </a:solidFill>
                <a:latin typeface="ui-sans-serif"/>
              </a:rPr>
              <a:t>5)</a:t>
            </a:r>
            <a:r>
              <a:rPr lang="fr-FR" sz="3200" dirty="0">
                <a:solidFill>
                  <a:schemeClr val="bg1">
                    <a:lumMod val="95000"/>
                    <a:lumOff val="5000"/>
                  </a:schemeClr>
                </a:solidFill>
                <a:latin typeface="ui-monospace"/>
              </a:rPr>
              <a:t> </a:t>
            </a:r>
            <a:r>
              <a:rPr lang="fr-FR" sz="3200" b="1" dirty="0">
                <a:latin typeface="ui-monospace"/>
              </a:rPr>
              <a:t>X_kbest = chiSelector.fit(xtest, y):</a:t>
            </a:r>
          </a:p>
          <a:p>
            <a:pPr marL="0" indent="0">
              <a:buNone/>
            </a:pPr>
            <a:r>
              <a:rPr lang="fr-FR" sz="3200" dirty="0">
                <a:solidFill>
                  <a:schemeClr val="bg1">
                    <a:lumMod val="95000"/>
                    <a:lumOff val="5000"/>
                  </a:schemeClr>
                </a:solidFill>
                <a:latin typeface="ui-monospace"/>
              </a:rPr>
              <a:t>	</a:t>
            </a:r>
            <a:r>
              <a:rPr lang="en-US" sz="3200" dirty="0">
                <a:solidFill>
                  <a:schemeClr val="tx2">
                    <a:lumMod val="90000"/>
                  </a:schemeClr>
                </a:solidFill>
                <a:latin typeface="ui-sans-serif"/>
              </a:rPr>
              <a:t>Fits the selector to your data (features and target).</a:t>
            </a:r>
          </a:p>
          <a:p>
            <a:pPr marL="0" indent="0">
              <a:buNone/>
            </a:pPr>
            <a:r>
              <a:rPr lang="en-US" sz="3200" dirty="0">
                <a:solidFill>
                  <a:schemeClr val="tx2">
                    <a:lumMod val="90000"/>
                  </a:schemeClr>
                </a:solidFill>
                <a:latin typeface="ui-sans-serif"/>
              </a:rPr>
              <a:t>	It calculates the </a:t>
            </a:r>
            <a:r>
              <a:rPr lang="en-US" sz="3200" b="1" dirty="0">
                <a:solidFill>
                  <a:schemeClr val="tx2">
                    <a:lumMod val="90000"/>
                  </a:schemeClr>
                </a:solidFill>
                <a:latin typeface="ui-sans-serif"/>
              </a:rPr>
              <a:t>Chi-squared scores</a:t>
            </a:r>
            <a:r>
              <a:rPr lang="en-US" sz="3200" dirty="0">
                <a:solidFill>
                  <a:schemeClr val="tx2">
                    <a:lumMod val="90000"/>
                  </a:schemeClr>
                </a:solidFill>
                <a:latin typeface="ui-sans-serif"/>
              </a:rPr>
              <a:t> for each feature 	based on how strongly it is associated with the 	target.</a:t>
            </a:r>
          </a:p>
        </p:txBody>
      </p:sp>
    </p:spTree>
    <p:extLst>
      <p:ext uri="{BB962C8B-B14F-4D97-AF65-F5344CB8AC3E}">
        <p14:creationId xmlns:p14="http://schemas.microsoft.com/office/powerpoint/2010/main" val="353180503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FA7CA-4C2B-D9FD-51BA-320C3F6F7915}"/>
              </a:ext>
            </a:extLst>
          </p:cNvPr>
          <p:cNvSpPr>
            <a:spLocks noGrp="1"/>
          </p:cNvSpPr>
          <p:nvPr>
            <p:ph type="title"/>
          </p:nvPr>
        </p:nvSpPr>
        <p:spPr>
          <a:xfrm>
            <a:off x="201169" y="452718"/>
            <a:ext cx="9849666" cy="767687"/>
          </a:xfrm>
        </p:spPr>
        <p:txBody>
          <a:bodyPr/>
          <a:lstStyle/>
          <a:p>
            <a:pPr marL="571500" indent="-571500">
              <a:buFont typeface="Wingdings" panose="05000000000000000000" pitchFamily="2" charset="2"/>
              <a:buChar char="v"/>
            </a:pPr>
            <a:r>
              <a:rPr lang="en-US" b="1" dirty="0">
                <a:solidFill>
                  <a:schemeClr val="tx1"/>
                </a:solidFill>
              </a:rPr>
              <a:t>Encoding</a:t>
            </a:r>
          </a:p>
        </p:txBody>
      </p:sp>
      <p:sp>
        <p:nvSpPr>
          <p:cNvPr id="3" name="Content Placeholder 2">
            <a:extLst>
              <a:ext uri="{FF2B5EF4-FFF2-40B4-BE49-F238E27FC236}">
                <a16:creationId xmlns:a16="http://schemas.microsoft.com/office/drawing/2014/main" id="{78EFC9BB-C2D8-C793-805D-FCE6A8E16F9D}"/>
              </a:ext>
            </a:extLst>
          </p:cNvPr>
          <p:cNvSpPr>
            <a:spLocks noGrp="1"/>
          </p:cNvSpPr>
          <p:nvPr>
            <p:ph idx="1"/>
          </p:nvPr>
        </p:nvSpPr>
        <p:spPr>
          <a:xfrm>
            <a:off x="356616" y="1371600"/>
            <a:ext cx="9693237" cy="4876799"/>
          </a:xfrm>
        </p:spPr>
        <p:txBody>
          <a:bodyPr>
            <a:normAutofit/>
          </a:bodyPr>
          <a:lstStyle/>
          <a:p>
            <a:r>
              <a:rPr lang="en-US" sz="3200" dirty="0">
                <a:solidFill>
                  <a:srgbClr val="FFFFFF"/>
                </a:solidFill>
                <a:latin typeface="ui-sans-serif"/>
              </a:rPr>
              <a:t>  </a:t>
            </a:r>
            <a:r>
              <a:rPr lang="en-US" sz="3200" dirty="0">
                <a:solidFill>
                  <a:schemeClr val="tx2">
                    <a:lumMod val="90000"/>
                  </a:schemeClr>
                </a:solidFill>
                <a:latin typeface="ui-sans-serif"/>
              </a:rPr>
              <a:t>ML models </a:t>
            </a:r>
            <a:r>
              <a:rPr lang="en-US" sz="3200" b="1" dirty="0">
                <a:solidFill>
                  <a:schemeClr val="tx2">
                    <a:lumMod val="90000"/>
                  </a:schemeClr>
                </a:solidFill>
                <a:latin typeface="ui-sans-serif"/>
              </a:rPr>
              <a:t>can’t read text</a:t>
            </a:r>
            <a:r>
              <a:rPr lang="en-US" sz="3200" dirty="0">
                <a:solidFill>
                  <a:schemeClr val="tx2">
                    <a:lumMod val="90000"/>
                  </a:schemeClr>
                </a:solidFill>
                <a:latin typeface="ui-sans-serif"/>
              </a:rPr>
              <a:t>, so we convert strings to 		numbers.</a:t>
            </a:r>
          </a:p>
          <a:p>
            <a:endParaRPr lang="en-US" sz="3200" dirty="0">
              <a:solidFill>
                <a:schemeClr val="tx2">
                  <a:lumMod val="90000"/>
                </a:schemeClr>
              </a:solidFill>
              <a:latin typeface="ui-sans-serif"/>
            </a:endParaRPr>
          </a:p>
          <a:p>
            <a:r>
              <a:rPr lang="en-US" sz="3200" dirty="0">
                <a:solidFill>
                  <a:schemeClr val="tx2">
                    <a:lumMod val="90000"/>
                  </a:schemeClr>
                </a:solidFill>
                <a:latin typeface="ui-sans-serif"/>
              </a:rPr>
              <a:t> It makes the dataset fully </a:t>
            </a:r>
            <a:r>
              <a:rPr lang="en-US" sz="3200" b="1" dirty="0">
                <a:solidFill>
                  <a:schemeClr val="tx2">
                    <a:lumMod val="90000"/>
                  </a:schemeClr>
                </a:solidFill>
                <a:latin typeface="ui-sans-serif"/>
              </a:rPr>
              <a:t>numerical</a:t>
            </a:r>
            <a:r>
              <a:rPr lang="en-US" sz="3200" dirty="0">
                <a:solidFill>
                  <a:schemeClr val="tx2">
                    <a:lumMod val="90000"/>
                  </a:schemeClr>
                </a:solidFill>
                <a:latin typeface="ui-sans-serif"/>
              </a:rPr>
              <a:t>, which is required 	for training.</a:t>
            </a:r>
          </a:p>
          <a:p>
            <a:pPr marL="0" indent="0">
              <a:buNone/>
            </a:pPr>
            <a:endParaRPr lang="en-US" sz="3200" dirty="0">
              <a:solidFill>
                <a:schemeClr val="tx2">
                  <a:lumMod val="90000"/>
                </a:schemeClr>
              </a:solidFill>
              <a:latin typeface="ui-sans-serif"/>
            </a:endParaRPr>
          </a:p>
          <a:p>
            <a:r>
              <a:rPr lang="en-US" sz="3200" dirty="0">
                <a:solidFill>
                  <a:schemeClr val="tx2">
                    <a:lumMod val="90000"/>
                  </a:schemeClr>
                </a:solidFill>
                <a:latin typeface="ui-sans-serif"/>
              </a:rPr>
              <a:t> Some mappings (like CAEC or CALC) reflect </a:t>
            </a:r>
            <a:r>
              <a:rPr lang="en-US" sz="3200" b="1" dirty="0">
                <a:solidFill>
                  <a:schemeClr val="tx2">
                    <a:lumMod val="90000"/>
                  </a:schemeClr>
                </a:solidFill>
                <a:latin typeface="ui-sans-serif"/>
              </a:rPr>
              <a:t>order</a:t>
            </a:r>
            <a:r>
              <a:rPr lang="en-US" sz="3200" dirty="0">
                <a:solidFill>
                  <a:schemeClr val="tx2">
                    <a:lumMod val="90000"/>
                  </a:schemeClr>
                </a:solidFill>
                <a:latin typeface="ui-sans-serif"/>
              </a:rPr>
              <a:t>, 	which helps some models understand intensity.</a:t>
            </a:r>
          </a:p>
          <a:p>
            <a:endParaRPr lang="en-US" sz="3200" dirty="0">
              <a:solidFill>
                <a:srgbClr val="FFFFFF"/>
              </a:solidFill>
              <a:latin typeface="ui-sans-serif"/>
            </a:endParaRPr>
          </a:p>
          <a:p>
            <a:pPr marL="0" indent="0">
              <a:buNone/>
            </a:pPr>
            <a:endParaRPr lang="en-US" sz="3200" dirty="0"/>
          </a:p>
        </p:txBody>
      </p:sp>
      <p:sp>
        <p:nvSpPr>
          <p:cNvPr id="4" name="Date Placeholder 3">
            <a:extLst>
              <a:ext uri="{FF2B5EF4-FFF2-40B4-BE49-F238E27FC236}">
                <a16:creationId xmlns:a16="http://schemas.microsoft.com/office/drawing/2014/main" id="{A10CA904-9A47-8ABE-8F08-690B48C972F0}"/>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78F761BF-9E24-3105-22C0-86C67C88C2F2}"/>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AE06D3A7-CA23-30CB-C685-10100695B801}"/>
              </a:ext>
            </a:extLst>
          </p:cNvPr>
          <p:cNvSpPr>
            <a:spLocks noGrp="1"/>
          </p:cNvSpPr>
          <p:nvPr>
            <p:ph type="sldNum" sz="quarter" idx="12"/>
          </p:nvPr>
        </p:nvSpPr>
        <p:spPr/>
        <p:txBody>
          <a:bodyPr/>
          <a:lstStyle/>
          <a:p>
            <a:fld id="{7BE69E03-4804-4553-A1EC-F089884EF50F}" type="slidenum">
              <a:rPr lang="en-US" smtClean="0">
                <a:solidFill>
                  <a:schemeClr val="bg1"/>
                </a:solidFill>
              </a:rPr>
              <a:t>8</a:t>
            </a:fld>
            <a:endParaRPr lang="en-US" dirty="0">
              <a:solidFill>
                <a:schemeClr val="bg1"/>
              </a:solidFill>
            </a:endParaRPr>
          </a:p>
        </p:txBody>
      </p:sp>
    </p:spTree>
    <p:extLst>
      <p:ext uri="{BB962C8B-B14F-4D97-AF65-F5344CB8AC3E}">
        <p14:creationId xmlns:p14="http://schemas.microsoft.com/office/powerpoint/2010/main" val="80091946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36361-914D-31E0-438A-AAFAE9A4480B}"/>
              </a:ext>
            </a:extLst>
          </p:cNvPr>
          <p:cNvSpPr>
            <a:spLocks noGrp="1"/>
          </p:cNvSpPr>
          <p:nvPr>
            <p:ph type="title"/>
          </p:nvPr>
        </p:nvSpPr>
        <p:spPr>
          <a:xfrm>
            <a:off x="1158129" y="3127999"/>
            <a:ext cx="9404723" cy="1551603"/>
          </a:xfrm>
        </p:spPr>
        <p:txBody>
          <a:bodyPr/>
          <a:lstStyle/>
          <a:p>
            <a:pPr marL="571500" indent="-571500" algn="ctr">
              <a:buFont typeface="Courier New" panose="02070309020205020404" pitchFamily="49" charset="0"/>
              <a:buChar char="o"/>
            </a:pPr>
            <a:r>
              <a:rPr lang="en-US" b="1" dirty="0">
                <a:solidFill>
                  <a:schemeClr val="tx1"/>
                </a:solidFill>
                <a:effectLst/>
                <a:latin typeface="AIGDT" panose="00000400000000000000" pitchFamily="2" charset="2"/>
              </a:rPr>
              <a:t>MODELS APPLIANCE</a:t>
            </a:r>
            <a:r>
              <a:rPr lang="ar-EG" b="1" dirty="0">
                <a:solidFill>
                  <a:schemeClr val="tx1"/>
                </a:solidFill>
                <a:effectLst/>
                <a:latin typeface="AIGDT" panose="00000400000000000000" pitchFamily="2" charset="2"/>
              </a:rPr>
              <a:t>.</a:t>
            </a:r>
            <a:br>
              <a:rPr lang="en-US" b="0" dirty="0">
                <a:solidFill>
                  <a:srgbClr val="D4D4D4"/>
                </a:solidFill>
                <a:effectLst/>
                <a:latin typeface="Consolas" panose="020B0609020204030204" pitchFamily="49" charset="0"/>
              </a:rPr>
            </a:br>
            <a:endParaRPr lang="en-US" dirty="0"/>
          </a:p>
        </p:txBody>
      </p:sp>
      <p:sp>
        <p:nvSpPr>
          <p:cNvPr id="3" name="Date Placeholder 2">
            <a:extLst>
              <a:ext uri="{FF2B5EF4-FFF2-40B4-BE49-F238E27FC236}">
                <a16:creationId xmlns:a16="http://schemas.microsoft.com/office/drawing/2014/main" id="{68281E23-6D73-4F62-B97B-A54C36738543}"/>
              </a:ext>
            </a:extLst>
          </p:cNvPr>
          <p:cNvSpPr>
            <a:spLocks noGrp="1"/>
          </p:cNvSpPr>
          <p:nvPr>
            <p:ph type="dt" sz="half" idx="10"/>
          </p:nvPr>
        </p:nvSpPr>
        <p:spPr/>
        <p:txBody>
          <a:bodyPr/>
          <a:lstStyle/>
          <a:p>
            <a:fld id="{EED29A7B-B2F1-41A3-B969-4E25F618B967}" type="datetime2">
              <a:rPr lang="en-US" smtClean="0"/>
              <a:t>Sunday, May 18, 2025</a:t>
            </a:fld>
            <a:endParaRPr lang="en-US" dirty="0"/>
          </a:p>
        </p:txBody>
      </p:sp>
      <p:sp>
        <p:nvSpPr>
          <p:cNvPr id="4" name="Footer Placeholder 3">
            <a:extLst>
              <a:ext uri="{FF2B5EF4-FFF2-40B4-BE49-F238E27FC236}">
                <a16:creationId xmlns:a16="http://schemas.microsoft.com/office/drawing/2014/main" id="{2B4C09A6-1F12-BC93-5788-24AE06B43C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BCA5F777-4D5C-AC4E-F273-28E8F8D7B3FF}"/>
              </a:ext>
            </a:extLst>
          </p:cNvPr>
          <p:cNvSpPr>
            <a:spLocks noGrp="1"/>
          </p:cNvSpPr>
          <p:nvPr>
            <p:ph type="sldNum" sz="quarter" idx="12"/>
          </p:nvPr>
        </p:nvSpPr>
        <p:spPr/>
        <p:txBody>
          <a:bodyPr/>
          <a:lstStyle/>
          <a:p>
            <a:fld id="{7BE69E03-4804-4553-A1EC-F089884EF50F}" type="slidenum">
              <a:rPr lang="en-US" smtClean="0">
                <a:solidFill>
                  <a:schemeClr val="bg2"/>
                </a:solidFill>
              </a:rPr>
              <a:t>9</a:t>
            </a:fld>
            <a:endParaRPr lang="en-US" dirty="0">
              <a:solidFill>
                <a:schemeClr val="bg2"/>
              </a:solidFill>
            </a:endParaRPr>
          </a:p>
        </p:txBody>
      </p:sp>
    </p:spTree>
    <p:extLst>
      <p:ext uri="{BB962C8B-B14F-4D97-AF65-F5344CB8AC3E}">
        <p14:creationId xmlns:p14="http://schemas.microsoft.com/office/powerpoint/2010/main" val="285941047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4D82C-E1CF-725A-7940-6BE00DFA8F7D}"/>
              </a:ext>
            </a:extLst>
          </p:cNvPr>
          <p:cNvSpPr>
            <a:spLocks noGrp="1"/>
          </p:cNvSpPr>
          <p:nvPr>
            <p:ph type="title"/>
          </p:nvPr>
        </p:nvSpPr>
        <p:spPr>
          <a:xfrm>
            <a:off x="646111" y="675183"/>
            <a:ext cx="9404723" cy="990599"/>
          </a:xfrm>
        </p:spPr>
        <p:txBody>
          <a:bodyPr/>
          <a:lstStyle/>
          <a:p>
            <a:pPr marL="571500" indent="-571500">
              <a:buFont typeface="Wingdings" panose="05000000000000000000" pitchFamily="2" charset="2"/>
              <a:buChar char="v"/>
            </a:pPr>
            <a:r>
              <a:rPr lang="en-US" sz="4000" b="1" dirty="0">
                <a:solidFill>
                  <a:schemeClr val="tx1"/>
                </a:solidFill>
                <a:effectLst/>
                <a:latin typeface="Roboto-Medium"/>
              </a:rPr>
              <a:t>L</a:t>
            </a:r>
            <a:r>
              <a:rPr lang="en-US" sz="2800" b="1" dirty="0">
                <a:solidFill>
                  <a:schemeClr val="tx1"/>
                </a:solidFill>
                <a:effectLst/>
                <a:latin typeface="Roboto-Medium"/>
              </a:rPr>
              <a:t>ogistic</a:t>
            </a:r>
            <a:r>
              <a:rPr lang="en-US" sz="4000" b="1" dirty="0">
                <a:solidFill>
                  <a:schemeClr val="tx1"/>
                </a:solidFill>
                <a:effectLst/>
                <a:latin typeface="Roboto-Medium"/>
              </a:rPr>
              <a:t> </a:t>
            </a:r>
            <a:r>
              <a:rPr lang="en-US" sz="2800" b="1" dirty="0">
                <a:solidFill>
                  <a:schemeClr val="tx1"/>
                </a:solidFill>
                <a:effectLst/>
                <a:latin typeface="Roboto-Medium"/>
              </a:rPr>
              <a:t>Regression Model Performance</a:t>
            </a:r>
            <a:endParaRPr lang="en-US" sz="7200" b="1" dirty="0">
              <a:solidFill>
                <a:schemeClr val="tx1"/>
              </a:solidFill>
            </a:endParaRPr>
          </a:p>
        </p:txBody>
      </p:sp>
      <p:sp>
        <p:nvSpPr>
          <p:cNvPr id="3" name="Content Placeholder 2">
            <a:extLst>
              <a:ext uri="{FF2B5EF4-FFF2-40B4-BE49-F238E27FC236}">
                <a16:creationId xmlns:a16="http://schemas.microsoft.com/office/drawing/2014/main" id="{220D3D54-90BD-3F1F-9271-1E9FEE707831}"/>
              </a:ext>
            </a:extLst>
          </p:cNvPr>
          <p:cNvSpPr>
            <a:spLocks noGrp="1"/>
          </p:cNvSpPr>
          <p:nvPr>
            <p:ph idx="1"/>
          </p:nvPr>
        </p:nvSpPr>
        <p:spPr>
          <a:xfrm>
            <a:off x="646111" y="1665782"/>
            <a:ext cx="9404723" cy="4517035"/>
          </a:xfrm>
        </p:spPr>
        <p:txBody>
          <a:bodyPr>
            <a:normAutofit fontScale="92500"/>
          </a:bodyPr>
          <a:lstStyle/>
          <a:p>
            <a:r>
              <a:rPr lang="en-US" sz="2400" dirty="0">
                <a:solidFill>
                  <a:schemeClr val="tx2">
                    <a:lumMod val="90000"/>
                  </a:schemeClr>
                </a:solidFill>
                <a:effectLst/>
                <a:latin typeface="Roboto" panose="02000000000000000000" pitchFamily="2" charset="0"/>
              </a:rPr>
              <a:t>We implemented a Logistic Regression model as our baseline approach. This model is simple, fast, and works well </a:t>
            </a:r>
            <a:endParaRPr lang="en-US" sz="2800" dirty="0">
              <a:solidFill>
                <a:schemeClr val="tx2">
                  <a:lumMod val="90000"/>
                </a:schemeClr>
              </a:solidFill>
            </a:endParaRPr>
          </a:p>
          <a:p>
            <a:r>
              <a:rPr lang="en-US" sz="2400" dirty="0">
                <a:solidFill>
                  <a:schemeClr val="tx2">
                    <a:lumMod val="90000"/>
                  </a:schemeClr>
                </a:solidFill>
                <a:effectLst/>
                <a:latin typeface="Roboto" panose="02000000000000000000" pitchFamily="2" charset="0"/>
              </a:rPr>
              <a:t>for linearly separable data. However, it struggled with the complexity of obesity prediction, suggesting that the </a:t>
            </a:r>
            <a:endParaRPr lang="en-US" sz="2800" dirty="0">
              <a:solidFill>
                <a:schemeClr val="tx2">
                  <a:lumMod val="90000"/>
                </a:schemeClr>
              </a:solidFill>
            </a:endParaRPr>
          </a:p>
          <a:p>
            <a:r>
              <a:rPr lang="en-US" sz="2400" dirty="0">
                <a:solidFill>
                  <a:schemeClr val="tx2">
                    <a:lumMod val="90000"/>
                  </a:schemeClr>
                </a:solidFill>
                <a:effectLst/>
                <a:latin typeface="Roboto" panose="02000000000000000000" pitchFamily="2" charset="0"/>
              </a:rPr>
              <a:t>relationships between our features and obesity levels are non-linear. </a:t>
            </a:r>
            <a:endParaRPr lang="en-US" sz="2800" dirty="0">
              <a:solidFill>
                <a:schemeClr val="tx2">
                  <a:lumMod val="90000"/>
                </a:schemeClr>
              </a:solidFill>
            </a:endParaRPr>
          </a:p>
          <a:p>
            <a:r>
              <a:rPr lang="en-US" sz="2400" dirty="0">
                <a:solidFill>
                  <a:schemeClr val="tx2">
                    <a:lumMod val="90000"/>
                  </a:schemeClr>
                </a:solidFill>
                <a:effectLst/>
                <a:latin typeface="Roboto" panose="02000000000000000000" pitchFamily="2" charset="0"/>
              </a:rPr>
              <a:t>The model's performance metrics revealed significant limitations in capturing the nuanced patterns in health </a:t>
            </a:r>
            <a:endParaRPr lang="en-US" sz="2800" dirty="0">
              <a:solidFill>
                <a:schemeClr val="tx2">
                  <a:lumMod val="90000"/>
                </a:schemeClr>
              </a:solidFill>
            </a:endParaRPr>
          </a:p>
          <a:p>
            <a:r>
              <a:rPr lang="en-US" sz="2400" dirty="0">
                <a:solidFill>
                  <a:schemeClr val="tx2">
                    <a:lumMod val="90000"/>
                  </a:schemeClr>
                </a:solidFill>
                <a:effectLst/>
                <a:latin typeface="Roboto" panose="02000000000000000000" pitchFamily="2" charset="0"/>
              </a:rPr>
              <a:t>indicators. The classification report showed varying performance across different obesity categories, with some </a:t>
            </a:r>
            <a:endParaRPr lang="en-US" sz="2800" dirty="0">
              <a:solidFill>
                <a:schemeClr val="tx2">
                  <a:lumMod val="90000"/>
                </a:schemeClr>
              </a:solidFill>
            </a:endParaRPr>
          </a:p>
          <a:p>
            <a:r>
              <a:rPr lang="en-US" sz="2400" dirty="0">
                <a:solidFill>
                  <a:schemeClr val="tx2">
                    <a:lumMod val="90000"/>
                  </a:schemeClr>
                </a:solidFill>
                <a:effectLst/>
                <a:latin typeface="Roboto" panose="02000000000000000000" pitchFamily="2" charset="0"/>
              </a:rPr>
              <a:t>classes being predicted more accurately than others.</a:t>
            </a:r>
          </a:p>
          <a:p>
            <a:r>
              <a:rPr lang="en-US" dirty="0">
                <a:solidFill>
                  <a:schemeClr val="tx2">
                    <a:lumMod val="90000"/>
                  </a:schemeClr>
                </a:solidFill>
              </a:rPr>
              <a:t>After using grid search the accuracy increased by 10%</a:t>
            </a:r>
          </a:p>
        </p:txBody>
      </p:sp>
      <p:sp>
        <p:nvSpPr>
          <p:cNvPr id="4" name="Date Placeholder 3">
            <a:extLst>
              <a:ext uri="{FF2B5EF4-FFF2-40B4-BE49-F238E27FC236}">
                <a16:creationId xmlns:a16="http://schemas.microsoft.com/office/drawing/2014/main" id="{C656A5F2-3C92-9136-9806-04CAB4E3314E}"/>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3A322260-4D80-2609-5A09-A9F5515651F1}"/>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CBD51E4A-00B5-CACC-A65B-884165A07D93}"/>
              </a:ext>
            </a:extLst>
          </p:cNvPr>
          <p:cNvSpPr>
            <a:spLocks noGrp="1"/>
          </p:cNvSpPr>
          <p:nvPr>
            <p:ph type="sldNum" sz="quarter" idx="12"/>
          </p:nvPr>
        </p:nvSpPr>
        <p:spPr/>
        <p:txBody>
          <a:bodyPr/>
          <a:lstStyle/>
          <a:p>
            <a:fld id="{7BE69E03-4804-4553-A1EC-F089884EF50F}" type="slidenum">
              <a:rPr lang="en-US" smtClean="0">
                <a:solidFill>
                  <a:schemeClr val="bg1"/>
                </a:solidFill>
              </a:rPr>
              <a:t>10</a:t>
            </a:fld>
            <a:endParaRPr lang="en-US" dirty="0">
              <a:solidFill>
                <a:schemeClr val="bg1"/>
              </a:solidFill>
            </a:endParaRPr>
          </a:p>
        </p:txBody>
      </p:sp>
    </p:spTree>
    <p:extLst>
      <p:ext uri="{BB962C8B-B14F-4D97-AF65-F5344CB8AC3E}">
        <p14:creationId xmlns:p14="http://schemas.microsoft.com/office/powerpoint/2010/main" val="43797093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BCDF99-AB30-F8EF-CDCD-E9D14983DD0E}"/>
              </a:ext>
            </a:extLst>
          </p:cNvPr>
          <p:cNvSpPr>
            <a:spLocks noGrp="1"/>
          </p:cNvSpPr>
          <p:nvPr>
            <p:ph type="dt" sz="half" idx="10"/>
          </p:nvPr>
        </p:nvSpPr>
        <p:spPr/>
        <p:txBody>
          <a:bodyPr/>
          <a:lstStyle/>
          <a:p>
            <a:fld id="{4EE98B79-F222-4FD1-8713-07459E1B5004}" type="datetime2">
              <a:rPr lang="en-US" smtClean="0"/>
              <a:t>Sunday, May 18, 2025</a:t>
            </a:fld>
            <a:endParaRPr lang="en-US" dirty="0"/>
          </a:p>
        </p:txBody>
      </p:sp>
      <p:sp>
        <p:nvSpPr>
          <p:cNvPr id="3" name="Footer Placeholder 2">
            <a:extLst>
              <a:ext uri="{FF2B5EF4-FFF2-40B4-BE49-F238E27FC236}">
                <a16:creationId xmlns:a16="http://schemas.microsoft.com/office/drawing/2014/main" id="{AC775576-73A0-FAF8-2E25-5B532CAF6702}"/>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B2C0C604-FACE-A9E3-588C-EC7F557BD2CB}"/>
              </a:ext>
            </a:extLst>
          </p:cNvPr>
          <p:cNvSpPr>
            <a:spLocks noGrp="1"/>
          </p:cNvSpPr>
          <p:nvPr>
            <p:ph type="sldNum" sz="quarter" idx="12"/>
          </p:nvPr>
        </p:nvSpPr>
        <p:spPr/>
        <p:txBody>
          <a:bodyPr/>
          <a:lstStyle/>
          <a:p>
            <a:fld id="{7BE69E03-4804-4553-A1EC-F089884EF50F}" type="slidenum">
              <a:rPr lang="en-US" smtClean="0">
                <a:solidFill>
                  <a:schemeClr val="bg1"/>
                </a:solidFill>
              </a:rPr>
              <a:t>11</a:t>
            </a:fld>
            <a:endParaRPr lang="en-US" dirty="0">
              <a:solidFill>
                <a:schemeClr val="bg1"/>
              </a:solidFill>
            </a:endParaRPr>
          </a:p>
        </p:txBody>
      </p:sp>
      <p:sp>
        <p:nvSpPr>
          <p:cNvPr id="8" name="TextBox 7">
            <a:extLst>
              <a:ext uri="{FF2B5EF4-FFF2-40B4-BE49-F238E27FC236}">
                <a16:creationId xmlns:a16="http://schemas.microsoft.com/office/drawing/2014/main" id="{19752797-54B4-9882-629B-9CC43D001050}"/>
              </a:ext>
            </a:extLst>
          </p:cNvPr>
          <p:cNvSpPr txBox="1"/>
          <p:nvPr/>
        </p:nvSpPr>
        <p:spPr>
          <a:xfrm>
            <a:off x="766119" y="382012"/>
            <a:ext cx="10352540" cy="5786199"/>
          </a:xfrm>
          <a:prstGeom prst="rect">
            <a:avLst/>
          </a:prstGeom>
          <a:noFill/>
        </p:spPr>
        <p:txBody>
          <a:bodyPr wrap="square">
            <a:spAutoFit/>
          </a:bodyPr>
          <a:lstStyle/>
          <a:p>
            <a:pPr algn="ctr"/>
            <a:r>
              <a:rPr lang="en-US" sz="4800" dirty="0">
                <a:solidFill>
                  <a:schemeClr val="tx1">
                    <a:lumMod val="95000"/>
                  </a:schemeClr>
                </a:solidFill>
                <a:effectLst/>
                <a:latin typeface="Roboto-Medium"/>
              </a:rPr>
              <a:t>Low </a:t>
            </a:r>
            <a:endParaRPr lang="en-US" sz="1400" dirty="0">
              <a:solidFill>
                <a:schemeClr val="tx1">
                  <a:lumMod val="95000"/>
                </a:schemeClr>
              </a:solidFill>
            </a:endParaRPr>
          </a:p>
          <a:p>
            <a:pPr algn="ctr"/>
            <a:r>
              <a:rPr lang="en-US" sz="2400" dirty="0">
                <a:solidFill>
                  <a:schemeClr val="tx1">
                    <a:lumMod val="95000"/>
                  </a:schemeClr>
                </a:solidFill>
                <a:effectLst/>
                <a:latin typeface="Roboto-Medium"/>
              </a:rPr>
              <a:t>Accuracy (62%)</a:t>
            </a:r>
            <a:endParaRPr lang="en-US" sz="1600" dirty="0">
              <a:solidFill>
                <a:schemeClr val="tx1">
                  <a:lumMod val="95000"/>
                </a:schemeClr>
              </a:solidFill>
            </a:endParaRPr>
          </a:p>
          <a:p>
            <a:pPr algn="ctr"/>
            <a:r>
              <a:rPr lang="en-US" sz="1600" dirty="0">
                <a:solidFill>
                  <a:schemeClr val="tx1">
                    <a:lumMod val="95000"/>
                  </a:schemeClr>
                </a:solidFill>
                <a:effectLst/>
                <a:latin typeface="Roboto" panose="02000000000000000000" pitchFamily="2" charset="0"/>
              </a:rPr>
              <a:t>Poor overall prediction performance </a:t>
            </a:r>
            <a:endParaRPr lang="en-US" sz="1600" dirty="0">
              <a:solidFill>
                <a:schemeClr val="tx1">
                  <a:lumMod val="95000"/>
                </a:schemeClr>
              </a:solidFill>
            </a:endParaRPr>
          </a:p>
          <a:p>
            <a:pPr algn="ctr"/>
            <a:r>
              <a:rPr lang="en-US" sz="5400" dirty="0">
                <a:solidFill>
                  <a:schemeClr val="tx1">
                    <a:lumMod val="95000"/>
                  </a:schemeClr>
                </a:solidFill>
                <a:effectLst/>
                <a:latin typeface="Roboto-Medium"/>
              </a:rPr>
              <a:t>Varied </a:t>
            </a:r>
            <a:endParaRPr lang="en-US" sz="1600" dirty="0">
              <a:solidFill>
                <a:schemeClr val="tx1">
                  <a:lumMod val="95000"/>
                </a:schemeClr>
              </a:solidFill>
            </a:endParaRPr>
          </a:p>
          <a:p>
            <a:pPr algn="ctr"/>
            <a:r>
              <a:rPr lang="en-US" sz="2400" dirty="0">
                <a:solidFill>
                  <a:schemeClr val="tx1">
                    <a:lumMod val="95000"/>
                  </a:schemeClr>
                </a:solidFill>
                <a:effectLst/>
                <a:latin typeface="Roboto-Medium"/>
              </a:rPr>
              <a:t>Precision </a:t>
            </a:r>
            <a:endParaRPr lang="en-US" sz="1600" dirty="0">
              <a:solidFill>
                <a:schemeClr val="tx1">
                  <a:lumMod val="95000"/>
                </a:schemeClr>
              </a:solidFill>
            </a:endParaRPr>
          </a:p>
          <a:p>
            <a:pPr algn="ctr"/>
            <a:r>
              <a:rPr lang="en-US" sz="1600" dirty="0">
                <a:solidFill>
                  <a:schemeClr val="tx1">
                    <a:lumMod val="95000"/>
                  </a:schemeClr>
                </a:solidFill>
                <a:effectLst/>
                <a:latin typeface="Roboto" panose="02000000000000000000" pitchFamily="2" charset="0"/>
              </a:rPr>
              <a:t>Inconsistent across obesity classes </a:t>
            </a:r>
            <a:endParaRPr lang="en-US" sz="1600" dirty="0">
              <a:solidFill>
                <a:schemeClr val="tx1">
                  <a:lumMod val="95000"/>
                </a:schemeClr>
              </a:solidFill>
            </a:endParaRPr>
          </a:p>
          <a:p>
            <a:pPr algn="ctr"/>
            <a:r>
              <a:rPr lang="en-US" sz="5400" dirty="0">
                <a:solidFill>
                  <a:schemeClr val="tx1">
                    <a:lumMod val="95000"/>
                  </a:schemeClr>
                </a:solidFill>
                <a:effectLst/>
                <a:latin typeface="Roboto-Medium"/>
              </a:rPr>
              <a:t>Limited </a:t>
            </a:r>
            <a:endParaRPr lang="en-US" sz="1600" dirty="0">
              <a:solidFill>
                <a:schemeClr val="tx1">
                  <a:lumMod val="95000"/>
                </a:schemeClr>
              </a:solidFill>
            </a:endParaRPr>
          </a:p>
          <a:p>
            <a:pPr algn="ctr"/>
            <a:r>
              <a:rPr lang="en-US" sz="2400" dirty="0">
                <a:solidFill>
                  <a:schemeClr val="tx1">
                    <a:lumMod val="95000"/>
                  </a:schemeClr>
                </a:solidFill>
                <a:effectLst/>
                <a:latin typeface="Roboto-Medium"/>
              </a:rPr>
              <a:t>Recall </a:t>
            </a:r>
            <a:endParaRPr lang="en-US" sz="1600" dirty="0">
              <a:solidFill>
                <a:schemeClr val="tx1">
                  <a:lumMod val="95000"/>
                </a:schemeClr>
              </a:solidFill>
            </a:endParaRPr>
          </a:p>
          <a:p>
            <a:pPr algn="ctr"/>
            <a:r>
              <a:rPr lang="en-US" sz="1600" dirty="0">
                <a:solidFill>
                  <a:schemeClr val="tx1">
                    <a:lumMod val="95000"/>
                  </a:schemeClr>
                </a:solidFill>
                <a:effectLst/>
                <a:latin typeface="Roboto" panose="02000000000000000000" pitchFamily="2" charset="0"/>
              </a:rPr>
              <a:t>Failed to identify many true positives </a:t>
            </a:r>
            <a:endParaRPr lang="en-US" sz="1600" dirty="0">
              <a:solidFill>
                <a:schemeClr val="tx1">
                  <a:lumMod val="95000"/>
                </a:schemeClr>
              </a:solidFill>
            </a:endParaRPr>
          </a:p>
          <a:p>
            <a:pPr algn="ctr"/>
            <a:r>
              <a:rPr lang="en-US" sz="5400" dirty="0">
                <a:solidFill>
                  <a:schemeClr val="tx1">
                    <a:lumMod val="95000"/>
                  </a:schemeClr>
                </a:solidFill>
                <a:effectLst/>
                <a:latin typeface="Roboto-Medium"/>
              </a:rPr>
              <a:t>Weak </a:t>
            </a:r>
            <a:endParaRPr lang="en-US" sz="1600" dirty="0">
              <a:solidFill>
                <a:schemeClr val="tx1">
                  <a:lumMod val="95000"/>
                </a:schemeClr>
              </a:solidFill>
            </a:endParaRPr>
          </a:p>
          <a:p>
            <a:pPr algn="ctr"/>
            <a:r>
              <a:rPr lang="en-US" sz="2400" dirty="0">
                <a:solidFill>
                  <a:schemeClr val="tx1">
                    <a:lumMod val="95000"/>
                  </a:schemeClr>
                </a:solidFill>
                <a:effectLst/>
                <a:latin typeface="Roboto-Medium"/>
              </a:rPr>
              <a:t>F1 Score </a:t>
            </a:r>
            <a:endParaRPr lang="en-US" sz="1600" dirty="0">
              <a:solidFill>
                <a:schemeClr val="tx1">
                  <a:lumMod val="95000"/>
                </a:schemeClr>
              </a:solidFill>
            </a:endParaRPr>
          </a:p>
          <a:p>
            <a:pPr algn="ctr"/>
            <a:r>
              <a:rPr lang="en-US" sz="1600" dirty="0">
                <a:solidFill>
                  <a:schemeClr val="tx1">
                    <a:lumMod val="95000"/>
                  </a:schemeClr>
                </a:solidFill>
                <a:effectLst/>
                <a:latin typeface="Roboto" panose="02000000000000000000" pitchFamily="2" charset="0"/>
              </a:rPr>
              <a:t>Poor balance of precision and recall</a:t>
            </a:r>
            <a:endParaRPr lang="en-US" sz="1600" dirty="0">
              <a:solidFill>
                <a:schemeClr val="tx1">
                  <a:lumMod val="95000"/>
                </a:schemeClr>
              </a:solidFill>
            </a:endParaRPr>
          </a:p>
        </p:txBody>
      </p:sp>
    </p:spTree>
    <p:extLst>
      <p:ext uri="{BB962C8B-B14F-4D97-AF65-F5344CB8AC3E}">
        <p14:creationId xmlns:p14="http://schemas.microsoft.com/office/powerpoint/2010/main" val="122473772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23A75-B8F0-C8EC-C2C4-6C333E8DB6C9}"/>
              </a:ext>
            </a:extLst>
          </p:cNvPr>
          <p:cNvSpPr>
            <a:spLocks noGrp="1"/>
          </p:cNvSpPr>
          <p:nvPr>
            <p:ph type="title"/>
          </p:nvPr>
        </p:nvSpPr>
        <p:spPr>
          <a:xfrm>
            <a:off x="535752" y="295729"/>
            <a:ext cx="9404723" cy="1028574"/>
          </a:xfrm>
        </p:spPr>
        <p:txBody>
          <a:bodyPr/>
          <a:lstStyle/>
          <a:p>
            <a:pPr marL="571500" indent="-571500">
              <a:buFont typeface="Wingdings" panose="05000000000000000000" pitchFamily="2" charset="2"/>
              <a:buChar char="v"/>
            </a:pPr>
            <a:r>
              <a:rPr lang="en-US" sz="4400" b="1" dirty="0">
                <a:solidFill>
                  <a:schemeClr val="tx1"/>
                </a:solidFill>
                <a:effectLst/>
                <a:latin typeface="Roboto-Medium"/>
              </a:rPr>
              <a:t>R</a:t>
            </a:r>
            <a:r>
              <a:rPr lang="en-US" sz="2800" b="1" dirty="0">
                <a:solidFill>
                  <a:schemeClr val="tx1"/>
                </a:solidFill>
                <a:effectLst/>
                <a:latin typeface="Roboto-Medium"/>
              </a:rPr>
              <a:t>andom</a:t>
            </a:r>
            <a:r>
              <a:rPr lang="en-US" sz="4400" b="1" dirty="0">
                <a:solidFill>
                  <a:schemeClr val="tx1"/>
                </a:solidFill>
                <a:effectLst/>
                <a:latin typeface="Roboto-Medium"/>
              </a:rPr>
              <a:t> </a:t>
            </a:r>
            <a:r>
              <a:rPr lang="en-US" sz="2800" b="1" dirty="0">
                <a:solidFill>
                  <a:schemeClr val="tx1"/>
                </a:solidFill>
                <a:effectLst/>
                <a:latin typeface="Roboto-Medium"/>
              </a:rPr>
              <a:t>Forest Model Performance</a:t>
            </a:r>
            <a:endParaRPr lang="en-US" sz="8000" b="1" dirty="0">
              <a:solidFill>
                <a:schemeClr val="tx1"/>
              </a:solidFill>
            </a:endParaRPr>
          </a:p>
        </p:txBody>
      </p:sp>
      <p:sp>
        <p:nvSpPr>
          <p:cNvPr id="3" name="Content Placeholder 2">
            <a:extLst>
              <a:ext uri="{FF2B5EF4-FFF2-40B4-BE49-F238E27FC236}">
                <a16:creationId xmlns:a16="http://schemas.microsoft.com/office/drawing/2014/main" id="{88490AA9-CCBF-8D6E-5E3F-DC04BE047DD2}"/>
              </a:ext>
            </a:extLst>
          </p:cNvPr>
          <p:cNvSpPr>
            <a:spLocks noGrp="1"/>
          </p:cNvSpPr>
          <p:nvPr>
            <p:ph idx="1"/>
          </p:nvPr>
        </p:nvSpPr>
        <p:spPr>
          <a:xfrm>
            <a:off x="645130" y="1324303"/>
            <a:ext cx="9404723" cy="4924097"/>
          </a:xfrm>
        </p:spPr>
        <p:txBody>
          <a:bodyPr/>
          <a:lstStyle/>
          <a:p>
            <a:r>
              <a:rPr lang="en-US" sz="2400" dirty="0">
                <a:solidFill>
                  <a:schemeClr val="tx2">
                    <a:lumMod val="90000"/>
                  </a:schemeClr>
                </a:solidFill>
                <a:latin typeface="Roboto" panose="02000000000000000000" pitchFamily="2" charset="0"/>
              </a:rPr>
              <a:t>T</a:t>
            </a:r>
            <a:r>
              <a:rPr lang="en-US" sz="2400" dirty="0">
                <a:solidFill>
                  <a:schemeClr val="tx2">
                    <a:lumMod val="90000"/>
                  </a:schemeClr>
                </a:solidFill>
                <a:effectLst/>
                <a:latin typeface="Roboto" panose="02000000000000000000" pitchFamily="2" charset="0"/>
              </a:rPr>
              <a:t>he Random Forest Classifier significantly outperformed the Logistic Regression model, achieving 91% accuracy. This ensemble method excels at capturing </a:t>
            </a:r>
            <a:endParaRPr lang="en-US" sz="2800" dirty="0">
              <a:solidFill>
                <a:schemeClr val="tx2">
                  <a:lumMod val="90000"/>
                </a:schemeClr>
              </a:solidFill>
            </a:endParaRPr>
          </a:p>
          <a:p>
            <a:r>
              <a:rPr lang="en-US" sz="2400" dirty="0">
                <a:solidFill>
                  <a:schemeClr val="tx2">
                    <a:lumMod val="90000"/>
                  </a:schemeClr>
                </a:solidFill>
                <a:effectLst/>
                <a:latin typeface="Roboto" panose="02000000000000000000" pitchFamily="2" charset="0"/>
              </a:rPr>
              <a:t>complex, non-linear relationships in the data by combining multiple decision trees, making it well-suited for obesity prediction. </a:t>
            </a:r>
            <a:endParaRPr lang="en-US" sz="2800" dirty="0">
              <a:solidFill>
                <a:schemeClr val="tx2">
                  <a:lumMod val="90000"/>
                </a:schemeClr>
              </a:solidFill>
            </a:endParaRPr>
          </a:p>
          <a:p>
            <a:r>
              <a:rPr lang="en-US" sz="2400" dirty="0">
                <a:solidFill>
                  <a:schemeClr val="tx2">
                    <a:lumMod val="90000"/>
                  </a:schemeClr>
                </a:solidFill>
                <a:effectLst/>
                <a:latin typeface="Roboto" panose="02000000000000000000" pitchFamily="2" charset="0"/>
              </a:rPr>
              <a:t>The model demonstrated strong performance across all metrics, with high precision, recall, and F1-scores. The classification report revealed consistent </a:t>
            </a:r>
            <a:endParaRPr lang="en-US" sz="2800" dirty="0">
              <a:solidFill>
                <a:schemeClr val="tx2">
                  <a:lumMod val="90000"/>
                </a:schemeClr>
              </a:solidFill>
            </a:endParaRPr>
          </a:p>
          <a:p>
            <a:r>
              <a:rPr lang="en-US" sz="2400" dirty="0">
                <a:solidFill>
                  <a:schemeClr val="tx2">
                    <a:lumMod val="90000"/>
                  </a:schemeClr>
                </a:solidFill>
                <a:effectLst/>
                <a:latin typeface="Roboto" panose="02000000000000000000" pitchFamily="2" charset="0"/>
              </a:rPr>
              <a:t>performance across different obesity categories, indicating the model's ability to distinguish between various levels of obesity</a:t>
            </a:r>
            <a:endParaRPr lang="en-US" sz="2800" dirty="0">
              <a:solidFill>
                <a:schemeClr val="tx2">
                  <a:lumMod val="90000"/>
                </a:schemeClr>
              </a:solidFill>
            </a:endParaRPr>
          </a:p>
        </p:txBody>
      </p:sp>
      <p:sp>
        <p:nvSpPr>
          <p:cNvPr id="4" name="Date Placeholder 3">
            <a:extLst>
              <a:ext uri="{FF2B5EF4-FFF2-40B4-BE49-F238E27FC236}">
                <a16:creationId xmlns:a16="http://schemas.microsoft.com/office/drawing/2014/main" id="{647C4D23-01D9-A553-171A-F901901B0F5F}"/>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2722D381-987C-B48C-4F9E-946701D91353}"/>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D496890E-13AD-9BAB-E89E-C6DA915D11B6}"/>
              </a:ext>
            </a:extLst>
          </p:cNvPr>
          <p:cNvSpPr>
            <a:spLocks noGrp="1"/>
          </p:cNvSpPr>
          <p:nvPr>
            <p:ph type="sldNum" sz="quarter" idx="12"/>
          </p:nvPr>
        </p:nvSpPr>
        <p:spPr/>
        <p:txBody>
          <a:bodyPr/>
          <a:lstStyle/>
          <a:p>
            <a:fld id="{7BE69E03-4804-4553-A1EC-F089884EF50F}" type="slidenum">
              <a:rPr lang="en-US" smtClean="0">
                <a:solidFill>
                  <a:schemeClr val="bg2"/>
                </a:solidFill>
              </a:rPr>
              <a:t>12</a:t>
            </a:fld>
            <a:endParaRPr lang="en-US" dirty="0">
              <a:solidFill>
                <a:schemeClr val="bg2"/>
              </a:solidFill>
            </a:endParaRPr>
          </a:p>
        </p:txBody>
      </p:sp>
    </p:spTree>
    <p:extLst>
      <p:ext uri="{BB962C8B-B14F-4D97-AF65-F5344CB8AC3E}">
        <p14:creationId xmlns:p14="http://schemas.microsoft.com/office/powerpoint/2010/main" val="354455256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D26369-0767-EA8B-B9F5-FC75FC5D7086}"/>
              </a:ext>
            </a:extLst>
          </p:cNvPr>
          <p:cNvSpPr>
            <a:spLocks noGrp="1"/>
          </p:cNvSpPr>
          <p:nvPr>
            <p:ph type="dt" sz="half" idx="10"/>
          </p:nvPr>
        </p:nvSpPr>
        <p:spPr/>
        <p:txBody>
          <a:bodyPr/>
          <a:lstStyle/>
          <a:p>
            <a:fld id="{4EE98B79-F222-4FD1-8713-07459E1B5004}" type="datetime2">
              <a:rPr lang="en-US" smtClean="0"/>
              <a:t>Sunday, May 18, 2025</a:t>
            </a:fld>
            <a:endParaRPr lang="en-US" dirty="0"/>
          </a:p>
        </p:txBody>
      </p:sp>
      <p:sp>
        <p:nvSpPr>
          <p:cNvPr id="3" name="Footer Placeholder 2">
            <a:extLst>
              <a:ext uri="{FF2B5EF4-FFF2-40B4-BE49-F238E27FC236}">
                <a16:creationId xmlns:a16="http://schemas.microsoft.com/office/drawing/2014/main" id="{5B946088-7A80-04CA-B482-B9A2A29EF75C}"/>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96E451F9-8A79-D69A-916A-5F5212B01AC0}"/>
              </a:ext>
            </a:extLst>
          </p:cNvPr>
          <p:cNvSpPr>
            <a:spLocks noGrp="1"/>
          </p:cNvSpPr>
          <p:nvPr>
            <p:ph type="sldNum" sz="quarter" idx="12"/>
          </p:nvPr>
        </p:nvSpPr>
        <p:spPr/>
        <p:txBody>
          <a:bodyPr/>
          <a:lstStyle/>
          <a:p>
            <a:fld id="{7BE69E03-4804-4553-A1EC-F089884EF50F}" type="slidenum">
              <a:rPr lang="en-US" smtClean="0">
                <a:solidFill>
                  <a:schemeClr val="bg2"/>
                </a:solidFill>
              </a:rPr>
              <a:t>13</a:t>
            </a:fld>
            <a:endParaRPr lang="en-US" dirty="0">
              <a:solidFill>
                <a:schemeClr val="bg2"/>
              </a:solidFill>
            </a:endParaRPr>
          </a:p>
        </p:txBody>
      </p:sp>
      <p:pic>
        <p:nvPicPr>
          <p:cNvPr id="6" name="Picture 5">
            <a:extLst>
              <a:ext uri="{FF2B5EF4-FFF2-40B4-BE49-F238E27FC236}">
                <a16:creationId xmlns:a16="http://schemas.microsoft.com/office/drawing/2014/main" id="{2A879572-549A-204B-CC7F-27CCF6394FF4}"/>
              </a:ext>
            </a:extLst>
          </p:cNvPr>
          <p:cNvPicPr>
            <a:picLocks noChangeAspect="1"/>
          </p:cNvPicPr>
          <p:nvPr/>
        </p:nvPicPr>
        <p:blipFill>
          <a:blip r:embed="rId2"/>
          <a:stretch>
            <a:fillRect/>
          </a:stretch>
        </p:blipFill>
        <p:spPr>
          <a:xfrm>
            <a:off x="0" y="0"/>
            <a:ext cx="12170338" cy="6858000"/>
          </a:xfrm>
          <a:prstGeom prst="rect">
            <a:avLst/>
          </a:prstGeom>
        </p:spPr>
      </p:pic>
    </p:spTree>
    <p:extLst>
      <p:ext uri="{BB962C8B-B14F-4D97-AF65-F5344CB8AC3E}">
        <p14:creationId xmlns:p14="http://schemas.microsoft.com/office/powerpoint/2010/main" val="785315955"/>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337E6-6449-5690-1952-EA067DB3C90D}"/>
              </a:ext>
            </a:extLst>
          </p:cNvPr>
          <p:cNvSpPr>
            <a:spLocks noGrp="1"/>
          </p:cNvSpPr>
          <p:nvPr>
            <p:ph type="title"/>
          </p:nvPr>
        </p:nvSpPr>
        <p:spPr>
          <a:xfrm>
            <a:off x="646111" y="452718"/>
            <a:ext cx="9404723" cy="990599"/>
          </a:xfrm>
        </p:spPr>
        <p:txBody>
          <a:bodyPr/>
          <a:lstStyle/>
          <a:p>
            <a:pPr marL="571500" indent="-571500">
              <a:buFont typeface="Wingdings" panose="05000000000000000000" pitchFamily="2" charset="2"/>
              <a:buChar char="v"/>
            </a:pPr>
            <a:r>
              <a:rPr lang="en-US" sz="4800" b="1" dirty="0">
                <a:solidFill>
                  <a:schemeClr val="tx1"/>
                </a:solidFill>
                <a:effectLst/>
                <a:latin typeface="Consolas" panose="020B0609020204030204" pitchFamily="49" charset="0"/>
              </a:rPr>
              <a:t>S</a:t>
            </a:r>
            <a:r>
              <a:rPr lang="en-US" sz="3600" b="1" dirty="0">
                <a:solidFill>
                  <a:schemeClr val="tx1"/>
                </a:solidFill>
                <a:effectLst/>
                <a:latin typeface="Consolas" panose="020B0609020204030204" pitchFamily="49" charset="0"/>
              </a:rPr>
              <a:t>UPPORT VECTOR MACHINES (SVM)</a:t>
            </a:r>
            <a:br>
              <a:rPr lang="en-US" b="0" dirty="0">
                <a:solidFill>
                  <a:srgbClr val="D4D4D4"/>
                </a:solidFill>
                <a:effectLst/>
                <a:latin typeface="Consolas" panose="020B0609020204030204" pitchFamily="49" charset="0"/>
              </a:rPr>
            </a:br>
            <a:endParaRPr lang="en-US" dirty="0"/>
          </a:p>
        </p:txBody>
      </p:sp>
      <p:sp>
        <p:nvSpPr>
          <p:cNvPr id="3" name="Content Placeholder 2">
            <a:extLst>
              <a:ext uri="{FF2B5EF4-FFF2-40B4-BE49-F238E27FC236}">
                <a16:creationId xmlns:a16="http://schemas.microsoft.com/office/drawing/2014/main" id="{F4FAD8FC-3947-ACBD-CFD5-3E6A328F896D}"/>
              </a:ext>
            </a:extLst>
          </p:cNvPr>
          <p:cNvSpPr>
            <a:spLocks noGrp="1"/>
          </p:cNvSpPr>
          <p:nvPr>
            <p:ph idx="1"/>
          </p:nvPr>
        </p:nvSpPr>
        <p:spPr>
          <a:xfrm>
            <a:off x="645130" y="1443317"/>
            <a:ext cx="9404723" cy="4805083"/>
          </a:xfrm>
        </p:spPr>
        <p:txBody>
          <a:bodyPr>
            <a:normAutofit fontScale="85000" lnSpcReduction="10000"/>
          </a:bodyPr>
          <a:lstStyle/>
          <a:p>
            <a:pPr fontAlgn="base">
              <a:lnSpc>
                <a:spcPct val="160000"/>
              </a:lnSpc>
              <a:buFont typeface="Wingdings" panose="05000000000000000000" pitchFamily="2" charset="2"/>
              <a:buChar char="Ø"/>
            </a:pPr>
            <a:r>
              <a:rPr lang="en-US" dirty="0"/>
              <a:t>SVM, is a powerful supervised machine learning algorithm used primarily for classification and regression tasks. In classification, SVM tries to maximize the margin between the closest data points of different classes (these are called support vectors). SVM will try to draw a line (or a plane in higher dimensions) that best separates the two classes with the widest possible gap between the classes.</a:t>
            </a:r>
          </a:p>
          <a:p>
            <a:pPr fontAlgn="base">
              <a:lnSpc>
                <a:spcPct val="160000"/>
              </a:lnSpc>
              <a:buFont typeface="Wingdings" panose="05000000000000000000" pitchFamily="2" charset="2"/>
              <a:buChar char="Ø"/>
            </a:pPr>
            <a:r>
              <a:rPr lang="en-US" dirty="0"/>
              <a:t>The data points that are closest to the boundary are the support vectors, which "support" the boundary.</a:t>
            </a:r>
          </a:p>
          <a:p>
            <a:pPr>
              <a:lnSpc>
                <a:spcPct val="200000"/>
              </a:lnSpc>
              <a:buFont typeface="Wingdings" panose="05000000000000000000" pitchFamily="2" charset="2"/>
              <a:buChar char="Ø"/>
            </a:pPr>
            <a:r>
              <a:rPr lang="en-US" dirty="0"/>
              <a:t>A </a:t>
            </a:r>
            <a:r>
              <a:rPr lang="en-US" b="1" dirty="0"/>
              <a:t>LinearSVC</a:t>
            </a:r>
            <a:r>
              <a:rPr lang="en-US" dirty="0"/>
              <a:t> model was used for classification.</a:t>
            </a:r>
            <a:endParaRPr lang="ar-EG" dirty="0"/>
          </a:p>
          <a:p>
            <a:pPr>
              <a:lnSpc>
                <a:spcPct val="200000"/>
              </a:lnSpc>
              <a:buFont typeface="Wingdings" panose="05000000000000000000" pitchFamily="2" charset="2"/>
              <a:buChar char="Ø"/>
            </a:pPr>
            <a:r>
              <a:rPr lang="en-US" dirty="0"/>
              <a:t>The model was </a:t>
            </a:r>
            <a:r>
              <a:rPr lang="en-US" b="1" dirty="0"/>
              <a:t>trained</a:t>
            </a:r>
            <a:r>
              <a:rPr lang="en-US" dirty="0"/>
              <a:t> using x_train and y_train.</a:t>
            </a:r>
            <a:endParaRPr lang="ar-EG" dirty="0"/>
          </a:p>
          <a:p>
            <a:pPr>
              <a:lnSpc>
                <a:spcPct val="200000"/>
              </a:lnSpc>
              <a:buFont typeface="Wingdings" panose="05000000000000000000" pitchFamily="2" charset="2"/>
              <a:buChar char="Ø"/>
            </a:pPr>
            <a:r>
              <a:rPr lang="en-US" dirty="0"/>
              <a:t>After training, </a:t>
            </a:r>
            <a:r>
              <a:rPr lang="en-US" b="1" dirty="0"/>
              <a:t>predictions</a:t>
            </a:r>
            <a:r>
              <a:rPr lang="en-US" dirty="0"/>
              <a:t> were made on x_test.</a:t>
            </a:r>
            <a:endParaRPr lang="ar-EG" dirty="0"/>
          </a:p>
          <a:p>
            <a:pPr marL="457200" lvl="1" indent="0">
              <a:lnSpc>
                <a:spcPct val="200000"/>
              </a:lnSpc>
              <a:buNone/>
            </a:pPr>
            <a:endParaRPr lang="ar-EG" dirty="0"/>
          </a:p>
        </p:txBody>
      </p:sp>
      <p:sp>
        <p:nvSpPr>
          <p:cNvPr id="4" name="Date Placeholder 3">
            <a:extLst>
              <a:ext uri="{FF2B5EF4-FFF2-40B4-BE49-F238E27FC236}">
                <a16:creationId xmlns:a16="http://schemas.microsoft.com/office/drawing/2014/main" id="{7FCA394E-740C-458C-497B-710667F70FC0}"/>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994FFD52-0285-D8B1-45BE-47B18DC0D0EB}"/>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C14642E3-B63A-E22D-0883-17837A7DBFE5}"/>
              </a:ext>
            </a:extLst>
          </p:cNvPr>
          <p:cNvSpPr>
            <a:spLocks noGrp="1"/>
          </p:cNvSpPr>
          <p:nvPr>
            <p:ph type="sldNum" sz="quarter" idx="12"/>
          </p:nvPr>
        </p:nvSpPr>
        <p:spPr/>
        <p:txBody>
          <a:bodyPr/>
          <a:lstStyle/>
          <a:p>
            <a:fld id="{7BE69E03-4804-4553-A1EC-F089884EF50F}" type="slidenum">
              <a:rPr lang="en-US" smtClean="0">
                <a:solidFill>
                  <a:schemeClr val="bg2"/>
                </a:solidFill>
              </a:rPr>
              <a:t>14</a:t>
            </a:fld>
            <a:endParaRPr lang="en-US" dirty="0">
              <a:solidFill>
                <a:schemeClr val="bg2"/>
              </a:solidFill>
            </a:endParaRPr>
          </a:p>
        </p:txBody>
      </p:sp>
    </p:spTree>
    <p:extLst>
      <p:ext uri="{BB962C8B-B14F-4D97-AF65-F5344CB8AC3E}">
        <p14:creationId xmlns:p14="http://schemas.microsoft.com/office/powerpoint/2010/main" val="72160754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EF95BA-1483-EE05-BABD-49421E7D1203}"/>
              </a:ext>
            </a:extLst>
          </p:cNvPr>
          <p:cNvSpPr>
            <a:spLocks noGrp="1"/>
          </p:cNvSpPr>
          <p:nvPr>
            <p:ph type="dt" sz="half" idx="10"/>
          </p:nvPr>
        </p:nvSpPr>
        <p:spPr/>
        <p:txBody>
          <a:bodyPr/>
          <a:lstStyle/>
          <a:p>
            <a:fld id="{4EE98B79-F222-4FD1-8713-07459E1B5004}" type="datetime2">
              <a:rPr lang="en-US" smtClean="0"/>
              <a:t>Sunday, May 18, 2025</a:t>
            </a:fld>
            <a:endParaRPr lang="en-US" dirty="0"/>
          </a:p>
        </p:txBody>
      </p:sp>
      <p:sp>
        <p:nvSpPr>
          <p:cNvPr id="3" name="Footer Placeholder 2">
            <a:extLst>
              <a:ext uri="{FF2B5EF4-FFF2-40B4-BE49-F238E27FC236}">
                <a16:creationId xmlns:a16="http://schemas.microsoft.com/office/drawing/2014/main" id="{10F0586A-A02D-0212-39BA-36E14FDBFF2D}"/>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87439823-FE77-BD86-3CAA-97EC283898F1}"/>
              </a:ext>
            </a:extLst>
          </p:cNvPr>
          <p:cNvSpPr>
            <a:spLocks noGrp="1"/>
          </p:cNvSpPr>
          <p:nvPr>
            <p:ph type="sldNum" sz="quarter" idx="12"/>
          </p:nvPr>
        </p:nvSpPr>
        <p:spPr/>
        <p:txBody>
          <a:bodyPr/>
          <a:lstStyle/>
          <a:p>
            <a:fld id="{7BE69E03-4804-4553-A1EC-F089884EF50F}" type="slidenum">
              <a:rPr lang="en-US" smtClean="0">
                <a:solidFill>
                  <a:schemeClr val="bg1"/>
                </a:solidFill>
              </a:rPr>
              <a:t>15</a:t>
            </a:fld>
            <a:endParaRPr lang="en-US" dirty="0">
              <a:solidFill>
                <a:schemeClr val="bg1"/>
              </a:solidFill>
            </a:endParaRPr>
          </a:p>
        </p:txBody>
      </p:sp>
      <p:sp>
        <p:nvSpPr>
          <p:cNvPr id="6" name="TextBox 5">
            <a:extLst>
              <a:ext uri="{FF2B5EF4-FFF2-40B4-BE49-F238E27FC236}">
                <a16:creationId xmlns:a16="http://schemas.microsoft.com/office/drawing/2014/main" id="{89A98997-2351-81DB-92EA-D3BF62E1B311}"/>
              </a:ext>
            </a:extLst>
          </p:cNvPr>
          <p:cNvSpPr txBox="1"/>
          <p:nvPr/>
        </p:nvSpPr>
        <p:spPr>
          <a:xfrm>
            <a:off x="845388" y="1028343"/>
            <a:ext cx="9507152" cy="5293757"/>
          </a:xfrm>
          <a:prstGeom prst="rect">
            <a:avLst/>
          </a:prstGeom>
          <a:noFill/>
        </p:spPr>
        <p:txBody>
          <a:bodyPr wrap="square">
            <a:spAutoFit/>
          </a:bodyPr>
          <a:lstStyle/>
          <a:p>
            <a:pPr>
              <a:lnSpc>
                <a:spcPct val="200000"/>
              </a:lnSpc>
              <a:buFont typeface="Wingdings" panose="05000000000000000000" pitchFamily="2" charset="2"/>
              <a:buChar char="Ø"/>
            </a:pPr>
            <a:r>
              <a:rPr lang="en-US" dirty="0"/>
              <a:t>Additionally, the following were printed:</a:t>
            </a:r>
            <a:endParaRPr lang="ar-EG" dirty="0"/>
          </a:p>
          <a:p>
            <a:pPr lvl="1">
              <a:lnSpc>
                <a:spcPct val="200000"/>
              </a:lnSpc>
              <a:buFont typeface="Wingdings" panose="05000000000000000000" pitchFamily="2" charset="2"/>
              <a:buChar char="§"/>
            </a:pPr>
            <a:r>
              <a:rPr lang="en-US" b="1" dirty="0">
                <a:solidFill>
                  <a:schemeClr val="tx2">
                    <a:lumMod val="90000"/>
                  </a:schemeClr>
                </a:solidFill>
              </a:rPr>
              <a:t>Classification Report</a:t>
            </a:r>
            <a:r>
              <a:rPr lang="en-US" dirty="0">
                <a:solidFill>
                  <a:schemeClr val="tx2">
                    <a:lumMod val="90000"/>
                  </a:schemeClr>
                </a:solidFill>
              </a:rPr>
              <a:t>: Detailed performance for each class.</a:t>
            </a:r>
            <a:endParaRPr lang="ar-EG" dirty="0">
              <a:solidFill>
                <a:schemeClr val="tx2">
                  <a:lumMod val="90000"/>
                </a:schemeClr>
              </a:solidFill>
            </a:endParaRPr>
          </a:p>
          <a:p>
            <a:pPr lvl="1">
              <a:lnSpc>
                <a:spcPct val="200000"/>
              </a:lnSpc>
              <a:buFont typeface="Wingdings" panose="05000000000000000000" pitchFamily="2" charset="2"/>
              <a:buChar char="§"/>
            </a:pPr>
            <a:r>
              <a:rPr lang="en-US" b="1" dirty="0">
                <a:solidFill>
                  <a:schemeClr val="tx2">
                    <a:lumMod val="90000"/>
                  </a:schemeClr>
                </a:solidFill>
              </a:rPr>
              <a:t>Confusion Matrix</a:t>
            </a:r>
            <a:r>
              <a:rPr lang="en-US" dirty="0">
                <a:solidFill>
                  <a:schemeClr val="tx2">
                    <a:lumMod val="90000"/>
                  </a:schemeClr>
                </a:solidFill>
              </a:rPr>
              <a:t>: Shows correct vs. incorrect predictions per class.</a:t>
            </a:r>
          </a:p>
          <a:p>
            <a:pPr lvl="1">
              <a:lnSpc>
                <a:spcPct val="200000"/>
              </a:lnSpc>
              <a:buFont typeface="Wingdings" panose="05000000000000000000" pitchFamily="2" charset="2"/>
              <a:buChar char="§"/>
            </a:pPr>
            <a:r>
              <a:rPr lang="en-US" sz="1600" dirty="0">
                <a:solidFill>
                  <a:schemeClr val="tx2">
                    <a:lumMod val="90000"/>
                  </a:schemeClr>
                </a:solidFill>
              </a:rPr>
              <a:t>And if we changed the number of iteration to ‘1’ the accuracy decreases by 11%.</a:t>
            </a:r>
            <a:endParaRPr lang="en-US" sz="1600" dirty="0"/>
          </a:p>
          <a:p>
            <a:pPr marL="285750" indent="-285750">
              <a:lnSpc>
                <a:spcPct val="200000"/>
              </a:lnSpc>
              <a:buFont typeface="Wingdings" panose="05000000000000000000" pitchFamily="2" charset="2"/>
              <a:buChar char="Ø"/>
            </a:pPr>
            <a:r>
              <a:rPr lang="en-US" dirty="0"/>
              <a:t>The model performance was evaluated using the following metrics:</a:t>
            </a:r>
            <a:r>
              <a:rPr lang="ar-EG" dirty="0"/>
              <a:t>	</a:t>
            </a:r>
          </a:p>
          <a:p>
            <a:pPr marL="742950" lvl="1" indent="-285750">
              <a:lnSpc>
                <a:spcPct val="200000"/>
              </a:lnSpc>
              <a:buFont typeface="Wingdings" panose="05000000000000000000" pitchFamily="2" charset="2"/>
              <a:buChar char="§"/>
            </a:pPr>
            <a:r>
              <a:rPr lang="ar-EG" dirty="0">
                <a:solidFill>
                  <a:schemeClr val="tx2">
                    <a:lumMod val="90000"/>
                  </a:schemeClr>
                </a:solidFill>
              </a:rPr>
              <a:t> </a:t>
            </a:r>
            <a:r>
              <a:rPr lang="en-US" b="1" dirty="0">
                <a:solidFill>
                  <a:schemeClr val="tx2">
                    <a:lumMod val="75000"/>
                  </a:schemeClr>
                </a:solidFill>
              </a:rPr>
              <a:t>Accuracy</a:t>
            </a:r>
            <a:r>
              <a:rPr lang="en-US" dirty="0">
                <a:solidFill>
                  <a:schemeClr val="tx2">
                    <a:lumMod val="75000"/>
                  </a:schemeClr>
                </a:solidFill>
              </a:rPr>
              <a:t>: Moderate model performance(64.9%).</a:t>
            </a:r>
            <a:endParaRPr lang="ar-EG" dirty="0">
              <a:solidFill>
                <a:schemeClr val="tx2">
                  <a:lumMod val="75000"/>
                </a:schemeClr>
              </a:solidFill>
            </a:endParaRPr>
          </a:p>
          <a:p>
            <a:pPr marL="742950" lvl="1" indent="-285750">
              <a:lnSpc>
                <a:spcPct val="200000"/>
              </a:lnSpc>
              <a:buFont typeface="Wingdings" panose="05000000000000000000" pitchFamily="2" charset="2"/>
              <a:buChar char="§"/>
            </a:pPr>
            <a:r>
              <a:rPr lang="en-US" b="1" dirty="0">
                <a:solidFill>
                  <a:schemeClr val="tx2">
                    <a:lumMod val="75000"/>
                  </a:schemeClr>
                </a:solidFill>
              </a:rPr>
              <a:t>Precision (macro)</a:t>
            </a:r>
            <a:r>
              <a:rPr lang="en-US" dirty="0">
                <a:solidFill>
                  <a:schemeClr val="tx2">
                    <a:lumMod val="75000"/>
                  </a:schemeClr>
                </a:solidFill>
              </a:rPr>
              <a:t>: Average precision across all classes.</a:t>
            </a:r>
            <a:endParaRPr lang="ar-EG" dirty="0">
              <a:solidFill>
                <a:schemeClr val="tx2">
                  <a:lumMod val="75000"/>
                </a:schemeClr>
              </a:solidFill>
            </a:endParaRPr>
          </a:p>
          <a:p>
            <a:pPr marL="742950" lvl="1" indent="-285750">
              <a:lnSpc>
                <a:spcPct val="200000"/>
              </a:lnSpc>
              <a:buFont typeface="Wingdings" panose="05000000000000000000" pitchFamily="2" charset="2"/>
              <a:buChar char="§"/>
            </a:pPr>
            <a:r>
              <a:rPr lang="ar-EG" dirty="0">
                <a:solidFill>
                  <a:schemeClr val="tx2">
                    <a:lumMod val="75000"/>
                  </a:schemeClr>
                </a:solidFill>
              </a:rPr>
              <a:t> </a:t>
            </a:r>
            <a:r>
              <a:rPr lang="en-US" b="1" dirty="0">
                <a:solidFill>
                  <a:schemeClr val="tx2">
                    <a:lumMod val="75000"/>
                  </a:schemeClr>
                </a:solidFill>
              </a:rPr>
              <a:t>Recall (macro)</a:t>
            </a:r>
            <a:r>
              <a:rPr lang="en-US" dirty="0">
                <a:solidFill>
                  <a:schemeClr val="tx2">
                    <a:lumMod val="75000"/>
                  </a:schemeClr>
                </a:solidFill>
              </a:rPr>
              <a:t>: Average recall across all classes.</a:t>
            </a:r>
            <a:endParaRPr lang="ar-EG" dirty="0">
              <a:solidFill>
                <a:schemeClr val="tx2">
                  <a:lumMod val="75000"/>
                </a:schemeClr>
              </a:solidFill>
            </a:endParaRPr>
          </a:p>
          <a:p>
            <a:pPr marL="742950" lvl="1" indent="-285750">
              <a:lnSpc>
                <a:spcPct val="200000"/>
              </a:lnSpc>
              <a:buFont typeface="Wingdings" panose="05000000000000000000" pitchFamily="2" charset="2"/>
              <a:buChar char="§"/>
            </a:pPr>
            <a:r>
              <a:rPr lang="en-US" b="1" dirty="0">
                <a:solidFill>
                  <a:schemeClr val="tx2">
                    <a:lumMod val="75000"/>
                  </a:schemeClr>
                </a:solidFill>
              </a:rPr>
              <a:t>F1 Score (macro)</a:t>
            </a:r>
            <a:r>
              <a:rPr lang="en-US" dirty="0">
                <a:solidFill>
                  <a:schemeClr val="tx2">
                    <a:lumMod val="75000"/>
                  </a:schemeClr>
                </a:solidFill>
              </a:rPr>
              <a:t>: Harmonic mean of precision and recall</a:t>
            </a:r>
            <a:endParaRPr lang="ar-EG" dirty="0">
              <a:solidFill>
                <a:schemeClr val="tx2">
                  <a:lumMod val="75000"/>
                </a:schemeClr>
              </a:solidFill>
            </a:endParaRPr>
          </a:p>
          <a:p>
            <a:pPr lvl="1"/>
            <a:endParaRPr lang="ar-EG" dirty="0"/>
          </a:p>
        </p:txBody>
      </p:sp>
    </p:spTree>
    <p:extLst>
      <p:ext uri="{BB962C8B-B14F-4D97-AF65-F5344CB8AC3E}">
        <p14:creationId xmlns:p14="http://schemas.microsoft.com/office/powerpoint/2010/main" val="409034666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animEffect transition="in" filter="fade">
                                      <p:cBhvr>
                                        <p:cTn id="7" dur="500"/>
                                        <p:tgtEl>
                                          <p:spTgt spid="6">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fade">
                                      <p:cBhvr>
                                        <p:cTn id="27" dur="500"/>
                                        <p:tgtEl>
                                          <p:spTgt spid="6">
                                            <p:txEl>
                                              <p:pRg st="3" end="3"/>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6">
                                            <p:txEl>
                                              <p:pRg st="5" end="5"/>
                                            </p:txEl>
                                          </p:spTgt>
                                        </p:tgtEl>
                                        <p:attrNameLst>
                                          <p:attrName>style.visibility</p:attrName>
                                        </p:attrNameLst>
                                      </p:cBhvr>
                                      <p:to>
                                        <p:strVal val="visible"/>
                                      </p:to>
                                    </p:set>
                                    <p:animEffect transition="in" filter="fade">
                                      <p:cBhvr>
                                        <p:cTn id="30" dur="500"/>
                                        <p:tgtEl>
                                          <p:spTgt spid="6">
                                            <p:txEl>
                                              <p:pRg st="5" end="5"/>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6">
                                            <p:txEl>
                                              <p:pRg st="6" end="6"/>
                                            </p:txEl>
                                          </p:spTgt>
                                        </p:tgtEl>
                                        <p:attrNameLst>
                                          <p:attrName>style.visibility</p:attrName>
                                        </p:attrNameLst>
                                      </p:cBhvr>
                                      <p:to>
                                        <p:strVal val="visible"/>
                                      </p:to>
                                    </p:set>
                                    <p:animEffect transition="in" filter="fade">
                                      <p:cBhvr>
                                        <p:cTn id="33" dur="500"/>
                                        <p:tgtEl>
                                          <p:spTgt spid="6">
                                            <p:txEl>
                                              <p:pRg st="6" end="6"/>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6">
                                            <p:txEl>
                                              <p:pRg st="7" end="7"/>
                                            </p:txEl>
                                          </p:spTgt>
                                        </p:tgtEl>
                                        <p:attrNameLst>
                                          <p:attrName>style.visibility</p:attrName>
                                        </p:attrNameLst>
                                      </p:cBhvr>
                                      <p:to>
                                        <p:strVal val="visible"/>
                                      </p:to>
                                    </p:set>
                                    <p:animEffect transition="in" filter="fade">
                                      <p:cBhvr>
                                        <p:cTn id="36" dur="500"/>
                                        <p:tgtEl>
                                          <p:spTgt spid="6">
                                            <p:txEl>
                                              <p:pRg st="7" end="7"/>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animEffect transition="in" filter="fade">
                                      <p:cBhvr>
                                        <p:cTn id="39"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1C5EC-CECE-D8D2-7E8F-5D3CD6BC83B8}"/>
              </a:ext>
            </a:extLst>
          </p:cNvPr>
          <p:cNvSpPr>
            <a:spLocks noGrp="1"/>
          </p:cNvSpPr>
          <p:nvPr>
            <p:ph type="title"/>
          </p:nvPr>
        </p:nvSpPr>
        <p:spPr>
          <a:xfrm>
            <a:off x="646111" y="452718"/>
            <a:ext cx="9404723" cy="879468"/>
          </a:xfrm>
        </p:spPr>
        <p:txBody>
          <a:bodyPr/>
          <a:lstStyle/>
          <a:p>
            <a:pPr marL="571500" indent="-571500">
              <a:buFont typeface="Wingdings" panose="05000000000000000000" pitchFamily="2" charset="2"/>
              <a:buChar char="v"/>
            </a:pPr>
            <a:r>
              <a:rPr lang="en-US" b="1" dirty="0">
                <a:solidFill>
                  <a:schemeClr val="tx1"/>
                </a:solidFill>
                <a:effectLst/>
                <a:latin typeface="Consolas" panose="020B0609020204030204" pitchFamily="49" charset="0"/>
              </a:rPr>
              <a:t>K-NEAREST NEIGHBORS (KNN)</a:t>
            </a:r>
            <a:br>
              <a:rPr lang="en-US" b="0" dirty="0">
                <a:solidFill>
                  <a:srgbClr val="D4D4D4"/>
                </a:solidFill>
                <a:effectLst/>
                <a:latin typeface="Consolas" panose="020B0609020204030204" pitchFamily="49" charset="0"/>
              </a:rPr>
            </a:br>
            <a:endParaRPr lang="en-US" dirty="0"/>
          </a:p>
        </p:txBody>
      </p:sp>
      <p:sp>
        <p:nvSpPr>
          <p:cNvPr id="3" name="Content Placeholder 2">
            <a:extLst>
              <a:ext uri="{FF2B5EF4-FFF2-40B4-BE49-F238E27FC236}">
                <a16:creationId xmlns:a16="http://schemas.microsoft.com/office/drawing/2014/main" id="{47A07487-91EF-A1A2-4903-4ADCDD335639}"/>
              </a:ext>
            </a:extLst>
          </p:cNvPr>
          <p:cNvSpPr>
            <a:spLocks noGrp="1"/>
          </p:cNvSpPr>
          <p:nvPr>
            <p:ph idx="1"/>
          </p:nvPr>
        </p:nvSpPr>
        <p:spPr>
          <a:xfrm>
            <a:off x="645132" y="1332186"/>
            <a:ext cx="9404722" cy="4916213"/>
          </a:xfrm>
        </p:spPr>
        <p:txBody>
          <a:bodyPr>
            <a:normAutofit fontScale="92500" lnSpcReduction="10000"/>
          </a:bodyPr>
          <a:lstStyle/>
          <a:p>
            <a:pPr>
              <a:lnSpc>
                <a:spcPct val="200000"/>
              </a:lnSpc>
              <a:buFont typeface="Wingdings" panose="05000000000000000000" pitchFamily="2" charset="2"/>
              <a:buChar char="Ø"/>
            </a:pPr>
            <a:r>
              <a:rPr lang="en-US" dirty="0"/>
              <a:t>A </a:t>
            </a:r>
            <a:r>
              <a:rPr lang="en-US" b="1" dirty="0"/>
              <a:t>KNeighborsClassifier</a:t>
            </a:r>
            <a:r>
              <a:rPr lang="en-US" dirty="0"/>
              <a:t> was used with </a:t>
            </a:r>
            <a:r>
              <a:rPr lang="en-US" b="1" dirty="0"/>
              <a:t>k = 5</a:t>
            </a:r>
            <a:r>
              <a:rPr lang="en-US" dirty="0"/>
              <a:t> (i the 5 nearest neighbors)</a:t>
            </a:r>
            <a:r>
              <a:rPr lang="ar-EG" dirty="0"/>
              <a:t>.</a:t>
            </a:r>
          </a:p>
          <a:p>
            <a:pPr>
              <a:lnSpc>
                <a:spcPct val="200000"/>
              </a:lnSpc>
              <a:buFont typeface="Wingdings" panose="05000000000000000000" pitchFamily="2" charset="2"/>
              <a:buChar char="Ø"/>
            </a:pPr>
            <a:r>
              <a:rPr lang="en-US" dirty="0"/>
              <a:t>The model was </a:t>
            </a:r>
            <a:r>
              <a:rPr lang="en-US" b="1" dirty="0"/>
              <a:t>trained</a:t>
            </a:r>
            <a:r>
              <a:rPr lang="en-US" dirty="0"/>
              <a:t> using x_train and y_train and the predictions were made on x-set( like SVM</a:t>
            </a:r>
            <a:r>
              <a:rPr lang="ar-EG" dirty="0"/>
              <a:t> </a:t>
            </a:r>
            <a:r>
              <a:rPr lang="en-US" dirty="0"/>
              <a:t>).</a:t>
            </a:r>
          </a:p>
          <a:p>
            <a:pPr marL="285750" indent="-285750">
              <a:lnSpc>
                <a:spcPct val="200000"/>
              </a:lnSpc>
              <a:buFont typeface="Wingdings" panose="05000000000000000000" pitchFamily="2" charset="2"/>
              <a:buChar char="Ø"/>
            </a:pPr>
            <a:r>
              <a:rPr lang="en-US" dirty="0"/>
              <a:t>The model performance was evaluated using the following metrics:</a:t>
            </a:r>
            <a:r>
              <a:rPr lang="ar-EG" dirty="0"/>
              <a:t>	</a:t>
            </a:r>
          </a:p>
          <a:p>
            <a:pPr lvl="1">
              <a:lnSpc>
                <a:spcPct val="170000"/>
              </a:lnSpc>
              <a:buFont typeface="Wingdings" panose="05000000000000000000" pitchFamily="2" charset="2"/>
              <a:buChar char="§"/>
            </a:pPr>
            <a:r>
              <a:rPr lang="ar-EG" dirty="0">
                <a:solidFill>
                  <a:schemeClr val="tx2">
                    <a:lumMod val="90000"/>
                  </a:schemeClr>
                </a:solidFill>
              </a:rPr>
              <a:t> </a:t>
            </a:r>
            <a:r>
              <a:rPr lang="en-US" dirty="0">
                <a:solidFill>
                  <a:schemeClr val="tx2">
                    <a:lumMod val="75000"/>
                  </a:schemeClr>
                </a:solidFill>
              </a:rPr>
              <a:t>Accuracy: Overall proportion of correct predictions(82.7%).</a:t>
            </a:r>
          </a:p>
          <a:p>
            <a:pPr lvl="1">
              <a:lnSpc>
                <a:spcPct val="170000"/>
              </a:lnSpc>
              <a:buFont typeface="Wingdings" panose="05000000000000000000" pitchFamily="2" charset="2"/>
              <a:buChar char="§"/>
            </a:pPr>
            <a:r>
              <a:rPr lang="en-US" dirty="0">
                <a:solidFill>
                  <a:schemeClr val="tx2">
                    <a:lumMod val="75000"/>
                  </a:schemeClr>
                </a:solidFill>
              </a:rPr>
              <a:t>Precision (macro): Average precision across all classes.</a:t>
            </a:r>
            <a:endParaRPr lang="ar-EG" dirty="0">
              <a:solidFill>
                <a:schemeClr val="tx2">
                  <a:lumMod val="75000"/>
                </a:schemeClr>
              </a:solidFill>
            </a:endParaRPr>
          </a:p>
          <a:p>
            <a:pPr lvl="1">
              <a:lnSpc>
                <a:spcPct val="170000"/>
              </a:lnSpc>
              <a:buFont typeface="Wingdings" panose="05000000000000000000" pitchFamily="2" charset="2"/>
              <a:buChar char="§"/>
            </a:pPr>
            <a:r>
              <a:rPr lang="ar-EG" dirty="0">
                <a:solidFill>
                  <a:schemeClr val="tx2">
                    <a:lumMod val="75000"/>
                  </a:schemeClr>
                </a:solidFill>
              </a:rPr>
              <a:t> </a:t>
            </a:r>
            <a:r>
              <a:rPr lang="en-US" dirty="0">
                <a:solidFill>
                  <a:schemeClr val="tx2">
                    <a:lumMod val="75000"/>
                  </a:schemeClr>
                </a:solidFill>
              </a:rPr>
              <a:t>Recall (macro): Average recall across all classes.</a:t>
            </a:r>
            <a:endParaRPr lang="ar-EG" dirty="0">
              <a:solidFill>
                <a:schemeClr val="tx2">
                  <a:lumMod val="75000"/>
                </a:schemeClr>
              </a:solidFill>
            </a:endParaRPr>
          </a:p>
          <a:p>
            <a:pPr lvl="1">
              <a:lnSpc>
                <a:spcPct val="170000"/>
              </a:lnSpc>
              <a:buFont typeface="Wingdings" panose="05000000000000000000" pitchFamily="2" charset="2"/>
              <a:buChar char="§"/>
            </a:pPr>
            <a:r>
              <a:rPr lang="en-US" dirty="0">
                <a:solidFill>
                  <a:schemeClr val="tx2">
                    <a:lumMod val="75000"/>
                  </a:schemeClr>
                </a:solidFill>
              </a:rPr>
              <a:t>F1 Score (macro): Balanced metric combining precision and recall</a:t>
            </a:r>
          </a:p>
          <a:p>
            <a:pPr marL="0" indent="0">
              <a:lnSpc>
                <a:spcPct val="200000"/>
              </a:lnSpc>
              <a:buNone/>
            </a:pPr>
            <a:endParaRPr lang="en-US" dirty="0"/>
          </a:p>
          <a:p>
            <a:pPr>
              <a:lnSpc>
                <a:spcPct val="200000"/>
              </a:lnSpc>
              <a:buFont typeface="Wingdings" panose="05000000000000000000" pitchFamily="2" charset="2"/>
              <a:buChar char="Ø"/>
            </a:pPr>
            <a:endParaRPr lang="en-US" dirty="0"/>
          </a:p>
          <a:p>
            <a:endParaRPr lang="en-US" dirty="0"/>
          </a:p>
        </p:txBody>
      </p:sp>
      <p:sp>
        <p:nvSpPr>
          <p:cNvPr id="4" name="Date Placeholder 3">
            <a:extLst>
              <a:ext uri="{FF2B5EF4-FFF2-40B4-BE49-F238E27FC236}">
                <a16:creationId xmlns:a16="http://schemas.microsoft.com/office/drawing/2014/main" id="{8C788179-67D1-F7F3-FAC4-EAF92FF9FB55}"/>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E0C1E144-D66A-7F20-C9DC-11F25CFA767F}"/>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B4CC6470-DBFF-9281-21B7-9E5CB4C490E2}"/>
              </a:ext>
            </a:extLst>
          </p:cNvPr>
          <p:cNvSpPr>
            <a:spLocks noGrp="1"/>
          </p:cNvSpPr>
          <p:nvPr>
            <p:ph type="sldNum" sz="quarter" idx="12"/>
          </p:nvPr>
        </p:nvSpPr>
        <p:spPr/>
        <p:txBody>
          <a:bodyPr/>
          <a:lstStyle/>
          <a:p>
            <a:fld id="{7BE69E03-4804-4553-A1EC-F089884EF50F}" type="slidenum">
              <a:rPr lang="en-US" smtClean="0">
                <a:solidFill>
                  <a:schemeClr val="bg1"/>
                </a:solidFill>
              </a:rPr>
              <a:t>16</a:t>
            </a:fld>
            <a:endParaRPr lang="en-US" dirty="0">
              <a:solidFill>
                <a:schemeClr val="bg1"/>
              </a:solidFill>
            </a:endParaRPr>
          </a:p>
        </p:txBody>
      </p:sp>
    </p:spTree>
    <p:extLst>
      <p:ext uri="{BB962C8B-B14F-4D97-AF65-F5344CB8AC3E}">
        <p14:creationId xmlns:p14="http://schemas.microsoft.com/office/powerpoint/2010/main" val="1095114208"/>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1FB718-DDC3-A735-85D4-269F08AA308C}"/>
              </a:ext>
            </a:extLst>
          </p:cNvPr>
          <p:cNvSpPr>
            <a:spLocks noGrp="1"/>
          </p:cNvSpPr>
          <p:nvPr>
            <p:ph type="dt" sz="half" idx="10"/>
          </p:nvPr>
        </p:nvSpPr>
        <p:spPr/>
        <p:txBody>
          <a:bodyPr/>
          <a:lstStyle/>
          <a:p>
            <a:fld id="{4EE98B79-F222-4FD1-8713-07459E1B5004}" type="datetime2">
              <a:rPr lang="en-US" smtClean="0"/>
              <a:t>Sunday, May 18, 2025</a:t>
            </a:fld>
            <a:endParaRPr lang="en-US" dirty="0"/>
          </a:p>
        </p:txBody>
      </p:sp>
      <p:sp>
        <p:nvSpPr>
          <p:cNvPr id="3" name="Footer Placeholder 2">
            <a:extLst>
              <a:ext uri="{FF2B5EF4-FFF2-40B4-BE49-F238E27FC236}">
                <a16:creationId xmlns:a16="http://schemas.microsoft.com/office/drawing/2014/main" id="{473ED1E9-C4E6-DEC6-BEB0-FDC909893A29}"/>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CE600676-10DF-36D9-670C-54E935228585}"/>
              </a:ext>
            </a:extLst>
          </p:cNvPr>
          <p:cNvSpPr>
            <a:spLocks noGrp="1"/>
          </p:cNvSpPr>
          <p:nvPr>
            <p:ph type="sldNum" sz="quarter" idx="12"/>
          </p:nvPr>
        </p:nvSpPr>
        <p:spPr/>
        <p:txBody>
          <a:bodyPr/>
          <a:lstStyle/>
          <a:p>
            <a:fld id="{7BE69E03-4804-4553-A1EC-F089884EF50F}" type="slidenum">
              <a:rPr lang="en-US" smtClean="0">
                <a:solidFill>
                  <a:schemeClr val="bg1"/>
                </a:solidFill>
              </a:rPr>
              <a:t>17</a:t>
            </a:fld>
            <a:endParaRPr lang="en-US" dirty="0">
              <a:solidFill>
                <a:schemeClr val="bg1"/>
              </a:solidFill>
            </a:endParaRPr>
          </a:p>
        </p:txBody>
      </p:sp>
      <p:sp>
        <p:nvSpPr>
          <p:cNvPr id="6" name="TextBox 5">
            <a:extLst>
              <a:ext uri="{FF2B5EF4-FFF2-40B4-BE49-F238E27FC236}">
                <a16:creationId xmlns:a16="http://schemas.microsoft.com/office/drawing/2014/main" id="{E603FE23-0AB0-5A3D-5B25-F540974FF5F1}"/>
              </a:ext>
            </a:extLst>
          </p:cNvPr>
          <p:cNvSpPr txBox="1"/>
          <p:nvPr/>
        </p:nvSpPr>
        <p:spPr>
          <a:xfrm>
            <a:off x="956214" y="1447800"/>
            <a:ext cx="9183414" cy="3329053"/>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US" dirty="0"/>
              <a:t>Additionally, the following were printed:</a:t>
            </a:r>
            <a:endParaRPr lang="en-US" dirty="0">
              <a:solidFill>
                <a:schemeClr val="tx2">
                  <a:lumMod val="90000"/>
                </a:schemeClr>
              </a:solidFill>
            </a:endParaRPr>
          </a:p>
          <a:p>
            <a:pPr lvl="1">
              <a:lnSpc>
                <a:spcPct val="200000"/>
              </a:lnSpc>
              <a:buFont typeface="Wingdings" panose="05000000000000000000" pitchFamily="2" charset="2"/>
              <a:buChar char="§"/>
            </a:pPr>
            <a:r>
              <a:rPr lang="en-US" b="1" dirty="0">
                <a:solidFill>
                  <a:schemeClr val="tx2">
                    <a:lumMod val="75000"/>
                  </a:schemeClr>
                </a:solidFill>
              </a:rPr>
              <a:t>Classification Report</a:t>
            </a:r>
            <a:r>
              <a:rPr lang="en-US" dirty="0">
                <a:solidFill>
                  <a:schemeClr val="tx2">
                    <a:lumMod val="75000"/>
                  </a:schemeClr>
                </a:solidFill>
              </a:rPr>
              <a:t>: Detailed performance per class.</a:t>
            </a:r>
            <a:endParaRPr lang="ar-EG" dirty="0">
              <a:solidFill>
                <a:schemeClr val="tx2">
                  <a:lumMod val="75000"/>
                </a:schemeClr>
              </a:solidFill>
            </a:endParaRPr>
          </a:p>
          <a:p>
            <a:pPr lvl="1">
              <a:lnSpc>
                <a:spcPct val="200000"/>
              </a:lnSpc>
              <a:buFont typeface="Wingdings" panose="05000000000000000000" pitchFamily="2" charset="2"/>
              <a:buChar char="§"/>
            </a:pPr>
            <a:r>
              <a:rPr lang="en-US" b="1" dirty="0">
                <a:solidFill>
                  <a:schemeClr val="tx2">
                    <a:lumMod val="75000"/>
                  </a:schemeClr>
                </a:solidFill>
              </a:rPr>
              <a:t>Confusion Matrix</a:t>
            </a:r>
            <a:r>
              <a:rPr lang="en-US" dirty="0">
                <a:solidFill>
                  <a:schemeClr val="tx2">
                    <a:lumMod val="75000"/>
                  </a:schemeClr>
                </a:solidFill>
              </a:rPr>
              <a:t>: Summarizes prediction errors and correct classifications.</a:t>
            </a:r>
          </a:p>
          <a:p>
            <a:pPr lvl="1">
              <a:lnSpc>
                <a:spcPct val="200000"/>
              </a:lnSpc>
              <a:buFont typeface="Wingdings" panose="05000000000000000000" pitchFamily="2" charset="2"/>
              <a:buChar char="§"/>
            </a:pPr>
            <a:r>
              <a:rPr lang="en-US" dirty="0">
                <a:solidFill>
                  <a:schemeClr val="tx2">
                    <a:lumMod val="75000"/>
                  </a:schemeClr>
                </a:solidFill>
              </a:rPr>
              <a:t>And if we changed the N neighbors to 8 the accuracy decreases by 5%</a:t>
            </a:r>
          </a:p>
          <a:p>
            <a:pPr lvl="1">
              <a:lnSpc>
                <a:spcPct val="200000"/>
              </a:lnSpc>
              <a:buFont typeface="Wingdings" panose="05000000000000000000" pitchFamily="2" charset="2"/>
              <a:buChar char="§"/>
            </a:pPr>
            <a:endParaRPr lang="en-US" dirty="0">
              <a:solidFill>
                <a:schemeClr val="tx2">
                  <a:lumMod val="75000"/>
                </a:schemeClr>
              </a:solidFill>
            </a:endParaRPr>
          </a:p>
          <a:p>
            <a:pPr lvl="1">
              <a:lnSpc>
                <a:spcPct val="200000"/>
              </a:lnSpc>
              <a:buFont typeface="Wingdings" panose="05000000000000000000" pitchFamily="2" charset="2"/>
              <a:buChar char="§"/>
            </a:pPr>
            <a:endParaRPr lang="en-US" dirty="0">
              <a:solidFill>
                <a:schemeClr val="tx2">
                  <a:lumMod val="90000"/>
                </a:schemeClr>
              </a:solidFill>
            </a:endParaRPr>
          </a:p>
        </p:txBody>
      </p:sp>
    </p:spTree>
    <p:extLst>
      <p:ext uri="{BB962C8B-B14F-4D97-AF65-F5344CB8AC3E}">
        <p14:creationId xmlns:p14="http://schemas.microsoft.com/office/powerpoint/2010/main" val="398853545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 calcmode="lin" valueType="num">
                                      <p:cBhvr additive="base">
                                        <p:cTn id="1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 calcmode="lin" valueType="num">
                                      <p:cBhvr additive="base">
                                        <p:cTn id="15"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 calcmode="lin" valueType="num">
                                      <p:cBhvr additive="base">
                                        <p:cTn id="1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6B782-4A29-4A75-A44E-2F8DC29941DA}"/>
              </a:ext>
            </a:extLst>
          </p:cNvPr>
          <p:cNvSpPr>
            <a:spLocks noGrp="1"/>
          </p:cNvSpPr>
          <p:nvPr>
            <p:ph type="title"/>
          </p:nvPr>
        </p:nvSpPr>
        <p:spPr>
          <a:xfrm>
            <a:off x="535460" y="452718"/>
            <a:ext cx="9514394" cy="857098"/>
          </a:xfrm>
        </p:spPr>
        <p:txBody>
          <a:bodyPr/>
          <a:lstStyle/>
          <a:p>
            <a:pPr marL="571500" indent="-571500">
              <a:buFont typeface="Wingdings" panose="05000000000000000000" pitchFamily="2" charset="2"/>
              <a:buChar char="v"/>
            </a:pPr>
            <a:r>
              <a:rPr lang="en-US" sz="4400" b="1" dirty="0">
                <a:solidFill>
                  <a:schemeClr val="tx1"/>
                </a:solidFill>
              </a:rPr>
              <a:t>Light </a:t>
            </a:r>
            <a:r>
              <a:rPr lang="en-US" sz="3200" b="1" dirty="0">
                <a:solidFill>
                  <a:schemeClr val="tx1"/>
                </a:solidFill>
              </a:rPr>
              <a:t>Gradient Boosting Classifier (LGBM):</a:t>
            </a:r>
          </a:p>
        </p:txBody>
      </p:sp>
      <p:sp>
        <p:nvSpPr>
          <p:cNvPr id="3" name="Content Placeholder 2">
            <a:extLst>
              <a:ext uri="{FF2B5EF4-FFF2-40B4-BE49-F238E27FC236}">
                <a16:creationId xmlns:a16="http://schemas.microsoft.com/office/drawing/2014/main" id="{61C58060-ACB6-4C6D-80E1-E92D3D7C1E72}"/>
              </a:ext>
            </a:extLst>
          </p:cNvPr>
          <p:cNvSpPr>
            <a:spLocks noGrp="1"/>
          </p:cNvSpPr>
          <p:nvPr>
            <p:ph idx="1"/>
          </p:nvPr>
        </p:nvSpPr>
        <p:spPr>
          <a:xfrm>
            <a:off x="534478" y="1383958"/>
            <a:ext cx="9515375" cy="4864442"/>
          </a:xfrm>
        </p:spPr>
        <p:txBody>
          <a:bodyPr>
            <a:normAutofit fontScale="92500"/>
          </a:bodyPr>
          <a:lstStyle/>
          <a:p>
            <a:pPr>
              <a:lnSpc>
                <a:spcPct val="150000"/>
              </a:lnSpc>
              <a:buFont typeface="Wingdings" panose="05000000000000000000" pitchFamily="2" charset="2"/>
              <a:buChar char="Ø"/>
            </a:pPr>
            <a:r>
              <a:rPr lang="en-US" sz="2400" dirty="0">
                <a:latin typeface="inherit"/>
              </a:rPr>
              <a:t>P</a:t>
            </a:r>
            <a:r>
              <a:rPr lang="en-US" sz="2400" b="0" i="0" dirty="0">
                <a:effectLst/>
                <a:latin typeface="inherit"/>
              </a:rPr>
              <a:t>owerful machine learning algorithm used for classification and regression tasks. It builds an ensemble of decision trees sequentially to improve model accuracy. GBM builds a series of trees where each tree fixes the</a:t>
            </a:r>
          </a:p>
          <a:p>
            <a:pPr>
              <a:lnSpc>
                <a:spcPct val="150000"/>
              </a:lnSpc>
              <a:buFont typeface="Wingdings" panose="05000000000000000000" pitchFamily="2" charset="2"/>
              <a:buChar char="Ø"/>
            </a:pPr>
            <a:r>
              <a:rPr lang="en-US" sz="2400" b="0" i="0" dirty="0">
                <a:effectLst/>
                <a:latin typeface="inherit"/>
              </a:rPr>
              <a:t> errors of the previous one. It uses gradient descent to minimize prediction errors.</a:t>
            </a:r>
          </a:p>
          <a:p>
            <a:pPr>
              <a:lnSpc>
                <a:spcPct val="150000"/>
              </a:lnSpc>
              <a:buFont typeface="Wingdings" panose="05000000000000000000" pitchFamily="2" charset="2"/>
              <a:buChar char="Ø"/>
            </a:pPr>
            <a:r>
              <a:rPr lang="en-US" sz="2400" b="0" i="0" dirty="0">
                <a:effectLst/>
                <a:latin typeface="inherit"/>
              </a:rPr>
              <a:t> It’s great for improving predictive performance on structured/tabular data.</a:t>
            </a:r>
          </a:p>
          <a:p>
            <a:pPr>
              <a:lnSpc>
                <a:spcPct val="150000"/>
              </a:lnSpc>
              <a:buFont typeface="Wingdings" panose="05000000000000000000" pitchFamily="2" charset="2"/>
              <a:buChar char="Ø"/>
            </a:pPr>
            <a:r>
              <a:rPr lang="en-US" sz="2400" dirty="0">
                <a:latin typeface="inherit"/>
              </a:rPr>
              <a:t>Accuracy achieved by this model is 92% which is perfectly satisfiable.</a:t>
            </a:r>
            <a:endParaRPr lang="en-US" sz="2400" b="0" i="0" dirty="0">
              <a:effectLst/>
              <a:latin typeface="inherit"/>
            </a:endParaRPr>
          </a:p>
          <a:p>
            <a:pPr>
              <a:buFont typeface="Wingdings" panose="05000000000000000000" pitchFamily="2" charset="2"/>
              <a:buChar char="Ø"/>
            </a:pPr>
            <a:endParaRPr lang="en-US" dirty="0"/>
          </a:p>
        </p:txBody>
      </p:sp>
      <p:sp>
        <p:nvSpPr>
          <p:cNvPr id="4" name="Date Placeholder 3">
            <a:extLst>
              <a:ext uri="{FF2B5EF4-FFF2-40B4-BE49-F238E27FC236}">
                <a16:creationId xmlns:a16="http://schemas.microsoft.com/office/drawing/2014/main" id="{A288A871-A08E-4D12-8739-979223A4110B}"/>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AEDD3D3F-C289-469D-95A6-ED985AC25F35}"/>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7FCE5ED-A29A-4399-BAA0-82A3E5B84019}"/>
              </a:ext>
            </a:extLst>
          </p:cNvPr>
          <p:cNvSpPr>
            <a:spLocks noGrp="1"/>
          </p:cNvSpPr>
          <p:nvPr>
            <p:ph type="sldNum" sz="quarter" idx="12"/>
          </p:nvPr>
        </p:nvSpPr>
        <p:spPr/>
        <p:txBody>
          <a:bodyPr/>
          <a:lstStyle/>
          <a:p>
            <a:fld id="{7BE69E03-4804-4553-A1EC-F089884EF50F}" type="slidenum">
              <a:rPr lang="en-US" smtClean="0">
                <a:solidFill>
                  <a:schemeClr val="bg1"/>
                </a:solidFill>
              </a:rPr>
              <a:t>18</a:t>
            </a:fld>
            <a:endParaRPr lang="en-US" dirty="0">
              <a:solidFill>
                <a:schemeClr val="bg1"/>
              </a:solidFill>
            </a:endParaRPr>
          </a:p>
        </p:txBody>
      </p:sp>
    </p:spTree>
    <p:extLst>
      <p:ext uri="{BB962C8B-B14F-4D97-AF65-F5344CB8AC3E}">
        <p14:creationId xmlns:p14="http://schemas.microsoft.com/office/powerpoint/2010/main" val="1987135630"/>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8735C-3B29-FC98-5B82-8DEA204354D8}"/>
              </a:ext>
            </a:extLst>
          </p:cNvPr>
          <p:cNvSpPr>
            <a:spLocks noGrp="1"/>
          </p:cNvSpPr>
          <p:nvPr>
            <p:ph type="title"/>
          </p:nvPr>
        </p:nvSpPr>
        <p:spPr>
          <a:xfrm>
            <a:off x="667265" y="452718"/>
            <a:ext cx="9382589" cy="931240"/>
          </a:xfrm>
        </p:spPr>
        <p:txBody>
          <a:bodyPr/>
          <a:lstStyle/>
          <a:p>
            <a:pPr marL="571500" indent="-571500">
              <a:buFont typeface="Wingdings" panose="05000000000000000000" pitchFamily="2" charset="2"/>
              <a:buChar char="v"/>
            </a:pPr>
            <a:r>
              <a:rPr lang="en-US" sz="4400" b="1" dirty="0">
                <a:solidFill>
                  <a:schemeClr val="tx1"/>
                </a:solidFill>
              </a:rPr>
              <a:t>G</a:t>
            </a:r>
            <a:r>
              <a:rPr lang="en-US" sz="3200" b="1" dirty="0">
                <a:solidFill>
                  <a:schemeClr val="tx1"/>
                </a:solidFill>
              </a:rPr>
              <a:t>radient Boosting Classifier (cont) :</a:t>
            </a:r>
            <a:endParaRPr lang="en-US" sz="3200" dirty="0"/>
          </a:p>
        </p:txBody>
      </p:sp>
      <p:sp>
        <p:nvSpPr>
          <p:cNvPr id="3" name="Content Placeholder 2">
            <a:extLst>
              <a:ext uri="{FF2B5EF4-FFF2-40B4-BE49-F238E27FC236}">
                <a16:creationId xmlns:a16="http://schemas.microsoft.com/office/drawing/2014/main" id="{A2477407-C8A8-FF53-93AF-B2E5EBAFD57C}"/>
              </a:ext>
            </a:extLst>
          </p:cNvPr>
          <p:cNvSpPr>
            <a:spLocks noGrp="1"/>
          </p:cNvSpPr>
          <p:nvPr>
            <p:ph idx="1"/>
          </p:nvPr>
        </p:nvSpPr>
        <p:spPr>
          <a:xfrm>
            <a:off x="666286" y="1383958"/>
            <a:ext cx="9383568" cy="4864442"/>
          </a:xfrm>
        </p:spPr>
        <p:txBody>
          <a:bodyPr>
            <a:normAutofit/>
          </a:bodyPr>
          <a:lstStyle/>
          <a:p>
            <a:pPr>
              <a:buFont typeface="Wingdings" panose="05000000000000000000" pitchFamily="2" charset="2"/>
              <a:buChar char="Ø"/>
            </a:pPr>
            <a:r>
              <a:rPr lang="en-US" dirty="0"/>
              <a:t>The model is trained using x_train and y_train.</a:t>
            </a:r>
          </a:p>
          <a:p>
            <a:pPr>
              <a:buFont typeface="Wingdings" panose="05000000000000000000" pitchFamily="2" charset="2"/>
              <a:buChar char="Ø"/>
            </a:pPr>
            <a:r>
              <a:rPr lang="en-US" dirty="0"/>
              <a:t>Predictions are made on x_test. </a:t>
            </a:r>
          </a:p>
          <a:p>
            <a:pPr>
              <a:buFont typeface="Wingdings" panose="05000000000000000000" pitchFamily="2" charset="2"/>
              <a:buChar char="Ø"/>
            </a:pPr>
            <a:r>
              <a:rPr lang="en-US" dirty="0"/>
              <a:t>Evaluation metrics include:</a:t>
            </a:r>
          </a:p>
          <a:p>
            <a:pPr lvl="1">
              <a:lnSpc>
                <a:spcPct val="150000"/>
              </a:lnSpc>
              <a:buFont typeface="Wingdings" panose="05000000000000000000" pitchFamily="2" charset="2"/>
              <a:buChar char="§"/>
            </a:pPr>
            <a:r>
              <a:rPr lang="en-US" b="1" dirty="0">
                <a:solidFill>
                  <a:schemeClr val="tx2">
                    <a:lumMod val="90000"/>
                  </a:schemeClr>
                </a:solidFill>
              </a:rPr>
              <a:t>Precision (macro)</a:t>
            </a:r>
            <a:r>
              <a:rPr lang="en-US" dirty="0">
                <a:solidFill>
                  <a:schemeClr val="tx2">
                    <a:lumMod val="90000"/>
                  </a:schemeClr>
                </a:solidFill>
              </a:rPr>
              <a:t>: Correctness of positive predictions (averaged per class).</a:t>
            </a:r>
          </a:p>
          <a:p>
            <a:pPr lvl="1">
              <a:lnSpc>
                <a:spcPct val="150000"/>
              </a:lnSpc>
              <a:buFont typeface="Wingdings" panose="05000000000000000000" pitchFamily="2" charset="2"/>
              <a:buChar char="§"/>
            </a:pPr>
            <a:r>
              <a:rPr lang="en-US" b="1" dirty="0">
                <a:solidFill>
                  <a:schemeClr val="tx2">
                    <a:lumMod val="90000"/>
                  </a:schemeClr>
                </a:solidFill>
              </a:rPr>
              <a:t>Recall (macro)</a:t>
            </a:r>
            <a:r>
              <a:rPr lang="en-US" dirty="0">
                <a:solidFill>
                  <a:schemeClr val="tx2">
                    <a:lumMod val="90000"/>
                  </a:schemeClr>
                </a:solidFill>
              </a:rPr>
              <a:t>: Ability to find all positive cases (averaged).</a:t>
            </a:r>
          </a:p>
          <a:p>
            <a:pPr lvl="1">
              <a:lnSpc>
                <a:spcPct val="150000"/>
              </a:lnSpc>
              <a:buFont typeface="Wingdings" panose="05000000000000000000" pitchFamily="2" charset="2"/>
              <a:buChar char="§"/>
            </a:pPr>
            <a:r>
              <a:rPr lang="en-US" b="1" dirty="0">
                <a:solidFill>
                  <a:schemeClr val="tx2">
                    <a:lumMod val="90000"/>
                  </a:schemeClr>
                </a:solidFill>
              </a:rPr>
              <a:t> F1 Score (macro)</a:t>
            </a:r>
            <a:r>
              <a:rPr lang="en-US" dirty="0">
                <a:solidFill>
                  <a:schemeClr val="tx2">
                    <a:lumMod val="90000"/>
                  </a:schemeClr>
                </a:solidFill>
              </a:rPr>
              <a:t>: Balance between precision and recall.</a:t>
            </a:r>
          </a:p>
          <a:p>
            <a:pPr>
              <a:buFont typeface="Wingdings" panose="05000000000000000000" pitchFamily="2" charset="2"/>
              <a:buChar char="Ø"/>
            </a:pPr>
            <a:r>
              <a:rPr lang="en-US" dirty="0"/>
              <a:t> Outputs:</a:t>
            </a:r>
          </a:p>
          <a:p>
            <a:pPr lvl="1">
              <a:lnSpc>
                <a:spcPct val="150000"/>
              </a:lnSpc>
              <a:buFont typeface="Wingdings" panose="05000000000000000000" pitchFamily="2" charset="2"/>
              <a:buChar char="§"/>
            </a:pPr>
            <a:r>
              <a:rPr lang="en-US" b="1" dirty="0">
                <a:solidFill>
                  <a:schemeClr val="tx2">
                    <a:lumMod val="90000"/>
                  </a:schemeClr>
                </a:solidFill>
              </a:rPr>
              <a:t>Classification report</a:t>
            </a:r>
            <a:r>
              <a:rPr lang="en-US" dirty="0">
                <a:solidFill>
                  <a:schemeClr val="tx2">
                    <a:lumMod val="90000"/>
                  </a:schemeClr>
                </a:solidFill>
              </a:rPr>
              <a:t>: Detailed metrics per class.</a:t>
            </a:r>
          </a:p>
          <a:p>
            <a:pPr lvl="1">
              <a:lnSpc>
                <a:spcPct val="150000"/>
              </a:lnSpc>
              <a:buFont typeface="Wingdings" panose="05000000000000000000" pitchFamily="2" charset="2"/>
              <a:buChar char="§"/>
            </a:pPr>
            <a:r>
              <a:rPr lang="en-US" b="1" dirty="0">
                <a:solidFill>
                  <a:schemeClr val="tx2">
                    <a:lumMod val="90000"/>
                  </a:schemeClr>
                </a:solidFill>
              </a:rPr>
              <a:t>Confusion matrix</a:t>
            </a:r>
            <a:r>
              <a:rPr lang="en-US" dirty="0">
                <a:solidFill>
                  <a:schemeClr val="tx2">
                    <a:lumMod val="90000"/>
                  </a:schemeClr>
                </a:solidFill>
              </a:rPr>
              <a:t>: Shows correct vs incorrect predictions.</a:t>
            </a:r>
          </a:p>
          <a:p>
            <a:pPr lvl="1">
              <a:buFont typeface="Wingdings" panose="05000000000000000000" pitchFamily="2" charset="2"/>
              <a:buChar char="§"/>
            </a:pPr>
            <a:endParaRPr lang="en-US" dirty="0">
              <a:solidFill>
                <a:schemeClr val="tx2">
                  <a:lumMod val="90000"/>
                </a:schemeClr>
              </a:solidFill>
            </a:endParaRPr>
          </a:p>
        </p:txBody>
      </p:sp>
      <p:sp>
        <p:nvSpPr>
          <p:cNvPr id="4" name="Date Placeholder 3">
            <a:extLst>
              <a:ext uri="{FF2B5EF4-FFF2-40B4-BE49-F238E27FC236}">
                <a16:creationId xmlns:a16="http://schemas.microsoft.com/office/drawing/2014/main" id="{A88267CE-662F-B559-1956-21CF763EB417}"/>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D81110C0-07A5-BF8C-9EB8-D1F98EAAB78C}"/>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606CA589-370F-5DCF-F053-9C47AEB0908A}"/>
              </a:ext>
            </a:extLst>
          </p:cNvPr>
          <p:cNvSpPr>
            <a:spLocks noGrp="1"/>
          </p:cNvSpPr>
          <p:nvPr>
            <p:ph type="sldNum" sz="quarter" idx="12"/>
          </p:nvPr>
        </p:nvSpPr>
        <p:spPr/>
        <p:txBody>
          <a:bodyPr/>
          <a:lstStyle/>
          <a:p>
            <a:fld id="{7BE69E03-4804-4553-A1EC-F089884EF50F}" type="slidenum">
              <a:rPr lang="en-US" smtClean="0">
                <a:solidFill>
                  <a:schemeClr val="bg1"/>
                </a:solidFill>
              </a:rPr>
              <a:t>19</a:t>
            </a:fld>
            <a:endParaRPr lang="en-US" dirty="0">
              <a:solidFill>
                <a:schemeClr val="bg1"/>
              </a:solidFill>
            </a:endParaRPr>
          </a:p>
        </p:txBody>
      </p:sp>
    </p:spTree>
    <p:extLst>
      <p:ext uri="{BB962C8B-B14F-4D97-AF65-F5344CB8AC3E}">
        <p14:creationId xmlns:p14="http://schemas.microsoft.com/office/powerpoint/2010/main" val="3647910395"/>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F26C1-A7B6-3D41-B118-1E423D1EBB53}"/>
              </a:ext>
            </a:extLst>
          </p:cNvPr>
          <p:cNvSpPr>
            <a:spLocks noGrp="1"/>
          </p:cNvSpPr>
          <p:nvPr>
            <p:ph type="title"/>
          </p:nvPr>
        </p:nvSpPr>
        <p:spPr>
          <a:xfrm>
            <a:off x="646111" y="452718"/>
            <a:ext cx="9404723" cy="767687"/>
          </a:xfrm>
        </p:spPr>
        <p:txBody>
          <a:bodyPr/>
          <a:lstStyle/>
          <a:p>
            <a:pPr marL="457200" indent="-457200">
              <a:buFont typeface="Wingdings" panose="05000000000000000000" pitchFamily="2" charset="2"/>
              <a:buChar char="v"/>
            </a:pPr>
            <a:r>
              <a:rPr lang="en-US" sz="4400" b="1" dirty="0">
                <a:solidFill>
                  <a:schemeClr val="tx1"/>
                </a:solidFill>
              </a:rPr>
              <a:t>E</a:t>
            </a:r>
            <a:r>
              <a:rPr lang="en-US" sz="2800" b="1" dirty="0">
                <a:solidFill>
                  <a:schemeClr val="tx1"/>
                </a:solidFill>
              </a:rPr>
              <a:t>xtreme Gradient Boosting </a:t>
            </a:r>
            <a:r>
              <a:rPr lang="en-US" sz="2400" b="1" dirty="0">
                <a:solidFill>
                  <a:schemeClr val="tx1"/>
                </a:solidFill>
              </a:rPr>
              <a:t>(XGBOOST)</a:t>
            </a:r>
            <a:endParaRPr lang="en-US" dirty="0"/>
          </a:p>
        </p:txBody>
      </p:sp>
      <p:sp>
        <p:nvSpPr>
          <p:cNvPr id="3" name="Content Placeholder 2">
            <a:extLst>
              <a:ext uri="{FF2B5EF4-FFF2-40B4-BE49-F238E27FC236}">
                <a16:creationId xmlns:a16="http://schemas.microsoft.com/office/drawing/2014/main" id="{71C44683-91EB-5E60-1973-7D9486B4738B}"/>
              </a:ext>
            </a:extLst>
          </p:cNvPr>
          <p:cNvSpPr>
            <a:spLocks noGrp="1"/>
          </p:cNvSpPr>
          <p:nvPr>
            <p:ph idx="1"/>
          </p:nvPr>
        </p:nvSpPr>
        <p:spPr>
          <a:xfrm>
            <a:off x="645130" y="1220405"/>
            <a:ext cx="9404723" cy="5027996"/>
          </a:xfrm>
        </p:spPr>
        <p:txBody>
          <a:bodyPr>
            <a:normAutofit/>
          </a:bodyPr>
          <a:lstStyle/>
          <a:p>
            <a:pPr>
              <a:lnSpc>
                <a:spcPct val="150000"/>
              </a:lnSpc>
              <a:buFont typeface="Wingdings" panose="05000000000000000000" pitchFamily="2" charset="2"/>
              <a:buChar char="Ø"/>
            </a:pPr>
            <a:r>
              <a:rPr lang="en-US" b="1" dirty="0"/>
              <a:t>Powerful machine learning algorithm</a:t>
            </a:r>
            <a:r>
              <a:rPr lang="en-US" dirty="0"/>
              <a:t> based on </a:t>
            </a:r>
            <a:r>
              <a:rPr lang="en-US" b="1" dirty="0"/>
              <a:t>gradient boosting</a:t>
            </a:r>
            <a:r>
              <a:rPr lang="en-US" dirty="0"/>
              <a:t>. It's known for being </a:t>
            </a:r>
            <a:r>
              <a:rPr lang="en-US" b="1" dirty="0"/>
              <a:t>fast, accurate, and efficient</a:t>
            </a:r>
            <a:r>
              <a:rPr lang="en-US" dirty="0"/>
              <a:t>, and is widely used in real-world applications and data science competitions (like Kaggle).</a:t>
            </a:r>
          </a:p>
          <a:p>
            <a:pPr>
              <a:lnSpc>
                <a:spcPct val="150000"/>
              </a:lnSpc>
              <a:buFont typeface="Wingdings" panose="05000000000000000000" pitchFamily="2" charset="2"/>
              <a:buChar char="Ø"/>
            </a:pPr>
            <a:r>
              <a:rPr lang="en-US" dirty="0"/>
              <a:t>Builds an </a:t>
            </a:r>
            <a:r>
              <a:rPr lang="en-US" b="1" dirty="0"/>
              <a:t>ensemble (collection) of decision trees</a:t>
            </a:r>
            <a:r>
              <a:rPr lang="en-US" dirty="0"/>
              <a:t>, where each new tree tries to </a:t>
            </a:r>
            <a:r>
              <a:rPr lang="en-US" b="1" dirty="0"/>
              <a:t>correct the errors</a:t>
            </a:r>
            <a:r>
              <a:rPr lang="en-US" dirty="0"/>
              <a:t> made by the previous ones.</a:t>
            </a:r>
          </a:p>
          <a:p>
            <a:pPr>
              <a:lnSpc>
                <a:spcPct val="150000"/>
              </a:lnSpc>
              <a:buFont typeface="Wingdings" panose="05000000000000000000" pitchFamily="2" charset="2"/>
              <a:buChar char="Ø"/>
            </a:pPr>
            <a:r>
              <a:rPr lang="en-US" dirty="0"/>
              <a:t>Used </a:t>
            </a:r>
            <a:r>
              <a:rPr lang="en-US" b="1" dirty="0"/>
              <a:t>XGBoostClassifier</a:t>
            </a:r>
            <a:r>
              <a:rPr lang="en-US" dirty="0"/>
              <a:t> for multi-class classification.</a:t>
            </a:r>
          </a:p>
          <a:p>
            <a:pPr>
              <a:lnSpc>
                <a:spcPct val="150000"/>
              </a:lnSpc>
              <a:buFont typeface="Wingdings" panose="05000000000000000000" pitchFamily="2" charset="2"/>
              <a:buChar char="Ø"/>
            </a:pPr>
            <a:r>
              <a:rPr lang="en-US" dirty="0"/>
              <a:t>Evaluation metrics were calculated:</a:t>
            </a:r>
          </a:p>
          <a:p>
            <a:pPr lvl="1">
              <a:lnSpc>
                <a:spcPct val="150000"/>
              </a:lnSpc>
              <a:buFont typeface="Wingdings" panose="05000000000000000000" pitchFamily="2" charset="2"/>
              <a:buChar char="§"/>
            </a:pPr>
            <a:r>
              <a:rPr lang="en-US" b="1" dirty="0">
                <a:solidFill>
                  <a:schemeClr val="tx2">
                    <a:lumMod val="75000"/>
                  </a:schemeClr>
                </a:solidFill>
              </a:rPr>
              <a:t>Accuracy</a:t>
            </a:r>
            <a:r>
              <a:rPr lang="en-US" dirty="0">
                <a:solidFill>
                  <a:schemeClr val="tx2">
                    <a:lumMod val="75000"/>
                  </a:schemeClr>
                </a:solidFill>
              </a:rPr>
              <a:t>: Strong predictive performance(87.4%).</a:t>
            </a:r>
          </a:p>
          <a:p>
            <a:pPr lvl="1">
              <a:lnSpc>
                <a:spcPct val="150000"/>
              </a:lnSpc>
              <a:buFont typeface="Wingdings" panose="05000000000000000000" pitchFamily="2" charset="2"/>
              <a:buChar char="§"/>
            </a:pPr>
            <a:r>
              <a:rPr lang="en-US" b="1" dirty="0">
                <a:solidFill>
                  <a:schemeClr val="tx2">
                    <a:lumMod val="75000"/>
                  </a:schemeClr>
                </a:solidFill>
              </a:rPr>
              <a:t>Precision / Recall / F1 Score (macro)</a:t>
            </a:r>
            <a:r>
              <a:rPr lang="en-US" dirty="0">
                <a:solidFill>
                  <a:schemeClr val="tx2">
                    <a:lumMod val="75000"/>
                  </a:schemeClr>
                </a:solidFill>
              </a:rPr>
              <a:t>: Averaged across all classes equally.</a:t>
            </a:r>
            <a:endParaRPr lang="ar-EG" dirty="0">
              <a:solidFill>
                <a:schemeClr val="tx2">
                  <a:lumMod val="75000"/>
                </a:schemeClr>
              </a:solidFill>
            </a:endParaRPr>
          </a:p>
        </p:txBody>
      </p:sp>
      <p:sp>
        <p:nvSpPr>
          <p:cNvPr id="4" name="Date Placeholder 3">
            <a:extLst>
              <a:ext uri="{FF2B5EF4-FFF2-40B4-BE49-F238E27FC236}">
                <a16:creationId xmlns:a16="http://schemas.microsoft.com/office/drawing/2014/main" id="{7E614508-8C0B-6311-3523-F2F6BFD25726}"/>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8552B220-1AB8-FF3B-4177-BAC182576A51}"/>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FDC89A88-68E8-0989-657D-C5925135F54B}"/>
              </a:ext>
            </a:extLst>
          </p:cNvPr>
          <p:cNvSpPr>
            <a:spLocks noGrp="1"/>
          </p:cNvSpPr>
          <p:nvPr>
            <p:ph type="sldNum" sz="quarter" idx="12"/>
          </p:nvPr>
        </p:nvSpPr>
        <p:spPr/>
        <p:txBody>
          <a:bodyPr/>
          <a:lstStyle/>
          <a:p>
            <a:fld id="{7BE69E03-4804-4553-A1EC-F089884EF50F}" type="slidenum">
              <a:rPr lang="en-US" smtClean="0">
                <a:solidFill>
                  <a:schemeClr val="bg1"/>
                </a:solidFill>
              </a:rPr>
              <a:t>20</a:t>
            </a:fld>
            <a:endParaRPr lang="en-US" dirty="0">
              <a:solidFill>
                <a:schemeClr val="bg1"/>
              </a:solidFill>
            </a:endParaRPr>
          </a:p>
        </p:txBody>
      </p:sp>
    </p:spTree>
    <p:extLst>
      <p:ext uri="{BB962C8B-B14F-4D97-AF65-F5344CB8AC3E}">
        <p14:creationId xmlns:p14="http://schemas.microsoft.com/office/powerpoint/2010/main" val="1894143275"/>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31453-1F16-1E31-F834-0AA904B183A7}"/>
              </a:ext>
            </a:extLst>
          </p:cNvPr>
          <p:cNvSpPr>
            <a:spLocks noGrp="1"/>
          </p:cNvSpPr>
          <p:nvPr>
            <p:ph type="title"/>
          </p:nvPr>
        </p:nvSpPr>
        <p:spPr>
          <a:xfrm>
            <a:off x="675503" y="452717"/>
            <a:ext cx="9375331" cy="708817"/>
          </a:xfrm>
        </p:spPr>
        <p:txBody>
          <a:bodyPr/>
          <a:lstStyle/>
          <a:p>
            <a:pPr marL="457200" indent="-457200">
              <a:buFont typeface="Wingdings" panose="05000000000000000000" pitchFamily="2" charset="2"/>
              <a:buChar char="v"/>
            </a:pPr>
            <a:r>
              <a:rPr lang="en-US" sz="4400" b="1" dirty="0">
                <a:solidFill>
                  <a:schemeClr val="tx1"/>
                </a:solidFill>
              </a:rPr>
              <a:t>E</a:t>
            </a:r>
            <a:r>
              <a:rPr lang="en-US" sz="3200" b="1" dirty="0">
                <a:solidFill>
                  <a:schemeClr val="tx1"/>
                </a:solidFill>
              </a:rPr>
              <a:t>xtreme Gradient Boosting </a:t>
            </a:r>
            <a:r>
              <a:rPr lang="en-US" sz="2800" b="1" dirty="0">
                <a:solidFill>
                  <a:schemeClr val="tx1"/>
                </a:solidFill>
              </a:rPr>
              <a:t>(XGBOOST)</a:t>
            </a:r>
            <a:r>
              <a:rPr lang="ar-EG" sz="2800" b="1" dirty="0">
                <a:solidFill>
                  <a:schemeClr val="tx1"/>
                </a:solidFill>
              </a:rPr>
              <a:t> </a:t>
            </a:r>
            <a:r>
              <a:rPr lang="en-US" sz="2800" b="1" dirty="0">
                <a:solidFill>
                  <a:schemeClr val="tx1"/>
                </a:solidFill>
              </a:rPr>
              <a:t>(cont):</a:t>
            </a:r>
            <a:endParaRPr lang="en-US" sz="3200" dirty="0"/>
          </a:p>
        </p:txBody>
      </p:sp>
      <p:sp>
        <p:nvSpPr>
          <p:cNvPr id="3" name="Content Placeholder 2">
            <a:extLst>
              <a:ext uri="{FF2B5EF4-FFF2-40B4-BE49-F238E27FC236}">
                <a16:creationId xmlns:a16="http://schemas.microsoft.com/office/drawing/2014/main" id="{60B0294D-1D50-CD9C-45C1-3914EB57C6B1}"/>
              </a:ext>
            </a:extLst>
          </p:cNvPr>
          <p:cNvSpPr>
            <a:spLocks noGrp="1"/>
          </p:cNvSpPr>
          <p:nvPr>
            <p:ph idx="1"/>
          </p:nvPr>
        </p:nvSpPr>
        <p:spPr>
          <a:xfrm>
            <a:off x="914400" y="1260389"/>
            <a:ext cx="9135453" cy="4988010"/>
          </a:xfrm>
        </p:spPr>
        <p:txBody>
          <a:bodyPr/>
          <a:lstStyle/>
          <a:p>
            <a:pPr>
              <a:buFont typeface="Wingdings" panose="05000000000000000000" pitchFamily="2" charset="2"/>
              <a:buChar char="Ø"/>
            </a:pPr>
            <a:r>
              <a:rPr lang="en-US" dirty="0"/>
              <a:t>Outputs included:</a:t>
            </a:r>
          </a:p>
          <a:p>
            <a:pPr lvl="1">
              <a:buFont typeface="Wingdings" panose="05000000000000000000" pitchFamily="2" charset="2"/>
              <a:buChar char="§"/>
            </a:pPr>
            <a:r>
              <a:rPr lang="en-US" b="1" dirty="0">
                <a:solidFill>
                  <a:schemeClr val="tx2">
                    <a:lumMod val="75000"/>
                  </a:schemeClr>
                </a:solidFill>
              </a:rPr>
              <a:t>Classification Report</a:t>
            </a:r>
            <a:r>
              <a:rPr lang="en-US" dirty="0">
                <a:solidFill>
                  <a:schemeClr val="tx2">
                    <a:lumMod val="75000"/>
                  </a:schemeClr>
                </a:solidFill>
              </a:rPr>
              <a:t>: Detailed performance per class.</a:t>
            </a:r>
          </a:p>
          <a:p>
            <a:pPr lvl="1">
              <a:buFont typeface="Wingdings" panose="05000000000000000000" pitchFamily="2" charset="2"/>
              <a:buChar char="§"/>
            </a:pPr>
            <a:r>
              <a:rPr lang="en-US" b="1" dirty="0">
                <a:solidFill>
                  <a:schemeClr val="tx2">
                    <a:lumMod val="75000"/>
                  </a:schemeClr>
                </a:solidFill>
              </a:rPr>
              <a:t>Confusion Matrix</a:t>
            </a:r>
            <a:r>
              <a:rPr lang="en-US" dirty="0">
                <a:solidFill>
                  <a:schemeClr val="tx2">
                    <a:lumMod val="75000"/>
                  </a:schemeClr>
                </a:solidFill>
              </a:rPr>
              <a:t>: Visualizes true vs. predicted labels.</a:t>
            </a:r>
          </a:p>
          <a:p>
            <a:pPr lvl="1">
              <a:buFont typeface="Wingdings" panose="05000000000000000000" pitchFamily="2" charset="2"/>
              <a:buChar char="§"/>
            </a:pPr>
            <a:endParaRPr lang="en-US" dirty="0"/>
          </a:p>
          <a:p>
            <a:pPr>
              <a:buFont typeface="Wingdings" panose="05000000000000000000" pitchFamily="2" charset="2"/>
              <a:buChar char="Ø"/>
            </a:pPr>
            <a:r>
              <a:rPr lang="en-US" dirty="0"/>
              <a:t> Key parameters:</a:t>
            </a:r>
            <a:endParaRPr lang="ar-EG" dirty="0"/>
          </a:p>
          <a:p>
            <a:pPr lvl="1">
              <a:buFont typeface="Wingdings" panose="05000000000000000000" pitchFamily="2" charset="2"/>
              <a:buChar char="§"/>
            </a:pPr>
            <a:r>
              <a:rPr lang="en-US" dirty="0">
                <a:solidFill>
                  <a:schemeClr val="tx2">
                    <a:lumMod val="75000"/>
                  </a:schemeClr>
                </a:solidFill>
              </a:rPr>
              <a:t>n_estimators=100: Number of trees.</a:t>
            </a:r>
            <a:endParaRPr lang="ar-EG" dirty="0">
              <a:solidFill>
                <a:schemeClr val="tx2">
                  <a:lumMod val="75000"/>
                </a:schemeClr>
              </a:solidFill>
            </a:endParaRPr>
          </a:p>
          <a:p>
            <a:pPr lvl="1">
              <a:buFont typeface="Wingdings" panose="05000000000000000000" pitchFamily="2" charset="2"/>
              <a:buChar char="§"/>
            </a:pPr>
            <a:r>
              <a:rPr lang="en-US" dirty="0">
                <a:solidFill>
                  <a:schemeClr val="tx2">
                    <a:lumMod val="75000"/>
                  </a:schemeClr>
                </a:solidFill>
              </a:rPr>
              <a:t> max_depth=6: Maximum tree depth.</a:t>
            </a:r>
            <a:endParaRPr lang="ar-EG" dirty="0">
              <a:solidFill>
                <a:schemeClr val="tx2">
                  <a:lumMod val="75000"/>
                </a:schemeClr>
              </a:solidFill>
            </a:endParaRPr>
          </a:p>
          <a:p>
            <a:pPr lvl="1">
              <a:buFont typeface="Wingdings" panose="05000000000000000000" pitchFamily="2" charset="2"/>
              <a:buChar char="§"/>
            </a:pPr>
            <a:r>
              <a:rPr lang="en-US" dirty="0">
                <a:solidFill>
                  <a:schemeClr val="tx2">
                    <a:lumMod val="75000"/>
                  </a:schemeClr>
                </a:solidFill>
              </a:rPr>
              <a:t>learning_rate=0.1: Step size for updates.</a:t>
            </a:r>
            <a:endParaRPr lang="ar-EG" dirty="0">
              <a:solidFill>
                <a:schemeClr val="tx2">
                  <a:lumMod val="75000"/>
                </a:schemeClr>
              </a:solidFill>
            </a:endParaRPr>
          </a:p>
          <a:p>
            <a:pPr lvl="1">
              <a:buFont typeface="Wingdings" panose="05000000000000000000" pitchFamily="2" charset="2"/>
              <a:buChar char="§"/>
            </a:pPr>
            <a:r>
              <a:rPr lang="en-US" dirty="0">
                <a:solidFill>
                  <a:schemeClr val="tx2">
                    <a:lumMod val="75000"/>
                  </a:schemeClr>
                </a:solidFill>
              </a:rPr>
              <a:t>objective='multi:softmax': Multi-class classification.</a:t>
            </a:r>
            <a:endParaRPr lang="ar-EG" dirty="0">
              <a:solidFill>
                <a:schemeClr val="tx2">
                  <a:lumMod val="75000"/>
                </a:schemeClr>
              </a:solidFill>
            </a:endParaRPr>
          </a:p>
          <a:p>
            <a:pPr lvl="1">
              <a:buFont typeface="Wingdings" panose="05000000000000000000" pitchFamily="2" charset="2"/>
              <a:buChar char="§"/>
            </a:pPr>
            <a:r>
              <a:rPr lang="en-US" dirty="0">
                <a:solidFill>
                  <a:schemeClr val="tx2">
                    <a:lumMod val="75000"/>
                  </a:schemeClr>
                </a:solidFill>
              </a:rPr>
              <a:t>num_class: Number of unique target classes.</a:t>
            </a:r>
          </a:p>
          <a:p>
            <a:pPr lvl="1">
              <a:buFont typeface="Wingdings" panose="05000000000000000000" pitchFamily="2" charset="2"/>
              <a:buChar char="§"/>
            </a:pPr>
            <a:r>
              <a:rPr lang="en-US" dirty="0">
                <a:solidFill>
                  <a:schemeClr val="tx2">
                    <a:lumMod val="75000"/>
                  </a:schemeClr>
                </a:solidFill>
              </a:rPr>
              <a:t>If we tried to make the n_estimators=10 and max_depth=2 we will get 60.9% accuracy. </a:t>
            </a:r>
          </a:p>
        </p:txBody>
      </p:sp>
      <p:sp>
        <p:nvSpPr>
          <p:cNvPr id="4" name="Date Placeholder 3">
            <a:extLst>
              <a:ext uri="{FF2B5EF4-FFF2-40B4-BE49-F238E27FC236}">
                <a16:creationId xmlns:a16="http://schemas.microsoft.com/office/drawing/2014/main" id="{0B089F6A-6B55-214D-BF1C-791BCFE12421}"/>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BF22EE6D-B4D0-B169-4F63-582B84F335B4}"/>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6FD509C1-1BEB-62CB-4158-1CD84676CA1C}"/>
              </a:ext>
            </a:extLst>
          </p:cNvPr>
          <p:cNvSpPr>
            <a:spLocks noGrp="1"/>
          </p:cNvSpPr>
          <p:nvPr>
            <p:ph type="sldNum" sz="quarter" idx="12"/>
          </p:nvPr>
        </p:nvSpPr>
        <p:spPr/>
        <p:txBody>
          <a:bodyPr/>
          <a:lstStyle/>
          <a:p>
            <a:fld id="{7BE69E03-4804-4553-A1EC-F089884EF50F}" type="slidenum">
              <a:rPr lang="en-US" smtClean="0">
                <a:solidFill>
                  <a:schemeClr val="bg1"/>
                </a:solidFill>
              </a:rPr>
              <a:t>21</a:t>
            </a:fld>
            <a:endParaRPr lang="en-US" dirty="0">
              <a:solidFill>
                <a:schemeClr val="bg1"/>
              </a:solidFill>
            </a:endParaRPr>
          </a:p>
        </p:txBody>
      </p:sp>
    </p:spTree>
    <p:extLst>
      <p:ext uri="{BB962C8B-B14F-4D97-AF65-F5344CB8AC3E}">
        <p14:creationId xmlns:p14="http://schemas.microsoft.com/office/powerpoint/2010/main" val="1523129573"/>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4FBED-58BD-779B-2944-2C16CFB02E36}"/>
              </a:ext>
            </a:extLst>
          </p:cNvPr>
          <p:cNvSpPr>
            <a:spLocks noGrp="1"/>
          </p:cNvSpPr>
          <p:nvPr>
            <p:ph type="title"/>
          </p:nvPr>
        </p:nvSpPr>
        <p:spPr>
          <a:xfrm>
            <a:off x="560173" y="452718"/>
            <a:ext cx="9490661" cy="610698"/>
          </a:xfrm>
        </p:spPr>
        <p:txBody>
          <a:bodyPr/>
          <a:lstStyle/>
          <a:p>
            <a:pPr marL="571500" indent="-571500">
              <a:buFont typeface="Wingdings" panose="05000000000000000000" pitchFamily="2" charset="2"/>
              <a:buChar char="v"/>
            </a:pPr>
            <a:r>
              <a:rPr lang="en-US" b="0" dirty="0">
                <a:solidFill>
                  <a:schemeClr val="tx1"/>
                </a:solidFill>
                <a:effectLst/>
                <a:latin typeface="Consolas" panose="020B0609020204030204" pitchFamily="49" charset="0"/>
              </a:rPr>
              <a:t>VISUALIZATIONS</a:t>
            </a:r>
            <a:br>
              <a:rPr lang="en-US" b="0" dirty="0">
                <a:solidFill>
                  <a:srgbClr val="D4D4D4"/>
                </a:solidFill>
                <a:effectLst/>
                <a:latin typeface="Consolas" panose="020B0609020204030204" pitchFamily="49" charset="0"/>
              </a:rPr>
            </a:br>
            <a:endParaRPr lang="en-US" dirty="0"/>
          </a:p>
        </p:txBody>
      </p:sp>
      <p:sp>
        <p:nvSpPr>
          <p:cNvPr id="4" name="Date Placeholder 3">
            <a:extLst>
              <a:ext uri="{FF2B5EF4-FFF2-40B4-BE49-F238E27FC236}">
                <a16:creationId xmlns:a16="http://schemas.microsoft.com/office/drawing/2014/main" id="{31256F08-63F8-44AF-7C72-9971E9FD0826}"/>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D6FD1A20-062A-B792-104A-4DC97BCCE9C9}"/>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A2F45B51-68E4-B9F3-8DED-722A8DC6CADC}"/>
              </a:ext>
            </a:extLst>
          </p:cNvPr>
          <p:cNvSpPr>
            <a:spLocks noGrp="1"/>
          </p:cNvSpPr>
          <p:nvPr>
            <p:ph type="sldNum" sz="quarter" idx="12"/>
          </p:nvPr>
        </p:nvSpPr>
        <p:spPr/>
        <p:txBody>
          <a:bodyPr/>
          <a:lstStyle/>
          <a:p>
            <a:fld id="{7BE69E03-4804-4553-A1EC-F089884EF50F}" type="slidenum">
              <a:rPr lang="en-US" smtClean="0">
                <a:solidFill>
                  <a:schemeClr val="bg1"/>
                </a:solidFill>
              </a:rPr>
              <a:t>22</a:t>
            </a:fld>
            <a:endParaRPr lang="en-US" dirty="0">
              <a:solidFill>
                <a:schemeClr val="bg1"/>
              </a:solidFill>
            </a:endParaRPr>
          </a:p>
        </p:txBody>
      </p:sp>
      <p:sp>
        <p:nvSpPr>
          <p:cNvPr id="12" name="Content Placeholder 11">
            <a:extLst>
              <a:ext uri="{FF2B5EF4-FFF2-40B4-BE49-F238E27FC236}">
                <a16:creationId xmlns:a16="http://schemas.microsoft.com/office/drawing/2014/main" id="{394ED0DC-5981-D2A7-E5F8-510954C7F809}"/>
              </a:ext>
            </a:extLst>
          </p:cNvPr>
          <p:cNvSpPr>
            <a:spLocks noGrp="1"/>
          </p:cNvSpPr>
          <p:nvPr>
            <p:ph idx="1"/>
          </p:nvPr>
        </p:nvSpPr>
        <p:spPr>
          <a:xfrm>
            <a:off x="675504" y="1359244"/>
            <a:ext cx="9374350" cy="4889156"/>
          </a:xfrm>
        </p:spPr>
        <p:txBody>
          <a:bodyPr/>
          <a:lstStyle/>
          <a:p>
            <a:endParaRPr lang="en-US" dirty="0"/>
          </a:p>
          <a:p>
            <a:pPr>
              <a:buFont typeface="Wingdings" panose="05000000000000000000" pitchFamily="2" charset="2"/>
              <a:buChar char="Ø"/>
            </a:pPr>
            <a:r>
              <a:rPr lang="en-US" dirty="0">
                <a:latin typeface="Abadi" panose="020B0604020104020204" pitchFamily="34" charset="0"/>
              </a:rPr>
              <a:t>Before handling outliers :</a:t>
            </a:r>
          </a:p>
          <a:p>
            <a:endParaRPr lang="en-US" dirty="0"/>
          </a:p>
          <a:p>
            <a:pPr lvl="2"/>
            <a:endParaRPr lang="en-US" dirty="0"/>
          </a:p>
        </p:txBody>
      </p:sp>
      <p:pic>
        <p:nvPicPr>
          <p:cNvPr id="16" name="Picture 15" descr="A screen shot of a graph&#10;&#10;AI-generated content may be incorrect.">
            <a:extLst>
              <a:ext uri="{FF2B5EF4-FFF2-40B4-BE49-F238E27FC236}">
                <a16:creationId xmlns:a16="http://schemas.microsoft.com/office/drawing/2014/main" id="{6D8137CD-2238-6883-4214-B3A8027DD7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504" y="2992871"/>
            <a:ext cx="9374350" cy="2666524"/>
          </a:xfrm>
          <a:prstGeom prst="rect">
            <a:avLst/>
          </a:prstGeom>
        </p:spPr>
      </p:pic>
    </p:spTree>
    <p:extLst>
      <p:ext uri="{BB962C8B-B14F-4D97-AF65-F5344CB8AC3E}">
        <p14:creationId xmlns:p14="http://schemas.microsoft.com/office/powerpoint/2010/main" val="2501968764"/>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09520-8879-AAC3-E98D-7D0D62F6CA3F}"/>
              </a:ext>
            </a:extLst>
          </p:cNvPr>
          <p:cNvSpPr>
            <a:spLocks noGrp="1"/>
          </p:cNvSpPr>
          <p:nvPr>
            <p:ph type="title"/>
          </p:nvPr>
        </p:nvSpPr>
        <p:spPr>
          <a:xfrm>
            <a:off x="659027" y="452718"/>
            <a:ext cx="9391807" cy="767687"/>
          </a:xfrm>
        </p:spPr>
        <p:txBody>
          <a:bodyPr/>
          <a:lstStyle/>
          <a:p>
            <a:pPr marL="571500" indent="-571500">
              <a:buFont typeface="Wingdings" panose="05000000000000000000" pitchFamily="2" charset="2"/>
              <a:buChar char="v"/>
            </a:pPr>
            <a:r>
              <a:rPr lang="en-US" sz="3600" b="0" dirty="0">
                <a:solidFill>
                  <a:schemeClr val="tx1"/>
                </a:solidFill>
                <a:effectLst/>
                <a:latin typeface="Consolas" panose="020B0609020204030204" pitchFamily="49" charset="0"/>
              </a:rPr>
              <a:t>V</a:t>
            </a:r>
            <a:r>
              <a:rPr lang="en-US" sz="2800" b="0" dirty="0">
                <a:solidFill>
                  <a:schemeClr val="tx1"/>
                </a:solidFill>
                <a:effectLst/>
                <a:latin typeface="Consolas" panose="020B0609020204030204" pitchFamily="49" charset="0"/>
              </a:rPr>
              <a:t>ISUALIZATIONS</a:t>
            </a:r>
            <a:r>
              <a:rPr lang="ar-EG" sz="2800" b="0" dirty="0">
                <a:solidFill>
                  <a:schemeClr val="tx1"/>
                </a:solidFill>
                <a:effectLst/>
                <a:latin typeface="Consolas" panose="020B0609020204030204" pitchFamily="49" charset="0"/>
              </a:rPr>
              <a:t> </a:t>
            </a:r>
            <a:r>
              <a:rPr lang="en-US" sz="2800" b="0" dirty="0">
                <a:solidFill>
                  <a:schemeClr val="tx1"/>
                </a:solidFill>
                <a:effectLst/>
                <a:latin typeface="Consolas" panose="020B0609020204030204" pitchFamily="49" charset="0"/>
              </a:rPr>
              <a:t>(cont)</a:t>
            </a:r>
            <a:br>
              <a:rPr lang="en-US" b="0" dirty="0">
                <a:solidFill>
                  <a:srgbClr val="D4D4D4"/>
                </a:solidFill>
                <a:effectLst/>
                <a:latin typeface="Consolas" panose="020B0609020204030204" pitchFamily="49" charset="0"/>
              </a:rPr>
            </a:br>
            <a:endParaRPr lang="en-US" dirty="0"/>
          </a:p>
        </p:txBody>
      </p:sp>
      <p:sp>
        <p:nvSpPr>
          <p:cNvPr id="3" name="Content Placeholder 2">
            <a:extLst>
              <a:ext uri="{FF2B5EF4-FFF2-40B4-BE49-F238E27FC236}">
                <a16:creationId xmlns:a16="http://schemas.microsoft.com/office/drawing/2014/main" id="{42897BDF-86EE-6635-7572-73F13140A612}"/>
              </a:ext>
            </a:extLst>
          </p:cNvPr>
          <p:cNvSpPr>
            <a:spLocks noGrp="1"/>
          </p:cNvSpPr>
          <p:nvPr>
            <p:ph idx="1"/>
          </p:nvPr>
        </p:nvSpPr>
        <p:spPr>
          <a:xfrm>
            <a:off x="658048" y="1220406"/>
            <a:ext cx="9391806" cy="5027994"/>
          </a:xfrm>
        </p:spPr>
        <p:txBody>
          <a:bodyPr/>
          <a:lstStyle/>
          <a:p>
            <a:pPr>
              <a:buFont typeface="Wingdings" panose="05000000000000000000" pitchFamily="2" charset="2"/>
              <a:buChar char="Ø"/>
            </a:pPr>
            <a:r>
              <a:rPr lang="en-US" dirty="0">
                <a:latin typeface="Abadi" panose="020B0604020104020204" pitchFamily="34" charset="0"/>
              </a:rPr>
              <a:t>After handling outliers :</a:t>
            </a:r>
          </a:p>
          <a:p>
            <a:pPr lvl="1">
              <a:buFont typeface="Wingdings" panose="05000000000000000000" pitchFamily="2" charset="2"/>
              <a:buChar char="§"/>
            </a:pPr>
            <a:r>
              <a:rPr lang="en-US" dirty="0">
                <a:solidFill>
                  <a:schemeClr val="tx2">
                    <a:lumMod val="90000"/>
                  </a:schemeClr>
                </a:solidFill>
                <a:latin typeface="Abadi" panose="020B0604020104020204" pitchFamily="34" charset="0"/>
              </a:rPr>
              <a:t>Compute Q1 (25th percentile) and Q3 (75th percentile).</a:t>
            </a:r>
          </a:p>
          <a:p>
            <a:pPr lvl="1">
              <a:buFont typeface="Wingdings" panose="05000000000000000000" pitchFamily="2" charset="2"/>
              <a:buChar char="§"/>
            </a:pPr>
            <a:r>
              <a:rPr lang="en-US" b="0" i="0" dirty="0">
                <a:solidFill>
                  <a:schemeClr val="tx2">
                    <a:lumMod val="90000"/>
                  </a:schemeClr>
                </a:solidFill>
                <a:effectLst/>
                <a:latin typeface="gg sans"/>
              </a:rPr>
              <a:t>Calculate the IQR = Q3 - Q1.</a:t>
            </a:r>
            <a:endParaRPr lang="en-US" b="0" i="0" dirty="0">
              <a:solidFill>
                <a:schemeClr val="tx2">
                  <a:lumMod val="90000"/>
                </a:schemeClr>
              </a:solidFill>
              <a:effectLst/>
              <a:latin typeface="Abadi" panose="020B0604020104020204" pitchFamily="34" charset="0"/>
            </a:endParaRPr>
          </a:p>
          <a:p>
            <a:pPr lvl="1">
              <a:buFont typeface="Wingdings" panose="05000000000000000000" pitchFamily="2" charset="2"/>
              <a:buChar char="§"/>
            </a:pPr>
            <a:r>
              <a:rPr lang="en-US" dirty="0">
                <a:solidFill>
                  <a:schemeClr val="tx2">
                    <a:lumMod val="90000"/>
                  </a:schemeClr>
                </a:solidFill>
                <a:latin typeface="gg sans"/>
              </a:rPr>
              <a:t>Define lower and upper bounds:</a:t>
            </a:r>
          </a:p>
          <a:p>
            <a:pPr lvl="2">
              <a:buFont typeface="Wingdings" panose="05000000000000000000" pitchFamily="2" charset="2"/>
              <a:buChar char="§"/>
            </a:pPr>
            <a:r>
              <a:rPr lang="en-US" dirty="0">
                <a:solidFill>
                  <a:schemeClr val="tx2">
                    <a:lumMod val="90000"/>
                  </a:schemeClr>
                </a:solidFill>
                <a:latin typeface="gg sans"/>
              </a:rPr>
              <a:t>lower_bound = Q1 - 1.5 * IQR </a:t>
            </a:r>
          </a:p>
          <a:p>
            <a:pPr lvl="2">
              <a:buFont typeface="Wingdings" panose="05000000000000000000" pitchFamily="2" charset="2"/>
              <a:buChar char="§"/>
            </a:pPr>
            <a:r>
              <a:rPr lang="en-US" dirty="0">
                <a:solidFill>
                  <a:schemeClr val="tx2">
                    <a:lumMod val="90000"/>
                  </a:schemeClr>
                </a:solidFill>
                <a:latin typeface="gg sans"/>
              </a:rPr>
              <a:t> upper_bound = Q3 + 1.5 * IQR</a:t>
            </a:r>
          </a:p>
          <a:p>
            <a:pPr lvl="2">
              <a:buFont typeface="Wingdings" panose="05000000000000000000" pitchFamily="2" charset="2"/>
              <a:buChar char="§"/>
            </a:pPr>
            <a:r>
              <a:rPr lang="en-US" dirty="0">
                <a:solidFill>
                  <a:schemeClr val="tx2">
                    <a:lumMod val="90000"/>
                  </a:schemeClr>
                </a:solidFill>
                <a:latin typeface="gg sans"/>
              </a:rPr>
              <a:t> Replace any values below the lower bound with the lower bound and above the upper bound with the upper bound.</a:t>
            </a:r>
          </a:p>
          <a:p>
            <a:pPr lvl="2">
              <a:buFont typeface="Wingdings" panose="05000000000000000000" pitchFamily="2" charset="2"/>
              <a:buChar char="§"/>
            </a:pPr>
            <a:endParaRPr lang="en-US" dirty="0">
              <a:solidFill>
                <a:schemeClr val="tx2">
                  <a:lumMod val="90000"/>
                </a:schemeClr>
              </a:solidFill>
              <a:latin typeface="gg sans"/>
            </a:endParaRPr>
          </a:p>
          <a:p>
            <a:pPr lvl="1">
              <a:buFont typeface="Wingdings" panose="05000000000000000000" pitchFamily="2" charset="2"/>
              <a:buChar char="§"/>
            </a:pPr>
            <a:endParaRPr lang="en-US" dirty="0">
              <a:solidFill>
                <a:schemeClr val="tx2">
                  <a:lumMod val="90000"/>
                </a:schemeClr>
              </a:solidFill>
              <a:latin typeface="Abadi" panose="020B0604020104020204" pitchFamily="34" charset="0"/>
            </a:endParaRPr>
          </a:p>
          <a:p>
            <a:pPr lvl="1"/>
            <a:endParaRPr lang="en-US" dirty="0">
              <a:solidFill>
                <a:schemeClr val="tx2">
                  <a:lumMod val="90000"/>
                </a:schemeClr>
              </a:solidFill>
              <a:latin typeface="Abadi" panose="020B0604020104020204" pitchFamily="34" charset="0"/>
            </a:endParaRPr>
          </a:p>
          <a:p>
            <a:pPr marL="0" indent="0">
              <a:buNone/>
            </a:pPr>
            <a:r>
              <a:rPr lang="en-US" dirty="0"/>
              <a:t>	</a:t>
            </a:r>
          </a:p>
        </p:txBody>
      </p:sp>
      <p:sp>
        <p:nvSpPr>
          <p:cNvPr id="4" name="Date Placeholder 3">
            <a:extLst>
              <a:ext uri="{FF2B5EF4-FFF2-40B4-BE49-F238E27FC236}">
                <a16:creationId xmlns:a16="http://schemas.microsoft.com/office/drawing/2014/main" id="{B1417885-D559-7129-8FB7-5CA10BF2F299}"/>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1F397904-2F0E-1D17-0131-2E7CA599F3B2}"/>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A9FF73CC-24FA-E7A6-4BEF-07FD896BCCBB}"/>
              </a:ext>
            </a:extLst>
          </p:cNvPr>
          <p:cNvSpPr>
            <a:spLocks noGrp="1"/>
          </p:cNvSpPr>
          <p:nvPr>
            <p:ph type="sldNum" sz="quarter" idx="12"/>
          </p:nvPr>
        </p:nvSpPr>
        <p:spPr/>
        <p:txBody>
          <a:bodyPr/>
          <a:lstStyle/>
          <a:p>
            <a:fld id="{7BE69E03-4804-4553-A1EC-F089884EF50F}" type="slidenum">
              <a:rPr lang="en-US" smtClean="0">
                <a:solidFill>
                  <a:schemeClr val="bg1"/>
                </a:solidFill>
              </a:rPr>
              <a:t>23</a:t>
            </a:fld>
            <a:endParaRPr lang="en-US" dirty="0">
              <a:solidFill>
                <a:schemeClr val="bg1"/>
              </a:solidFill>
            </a:endParaRPr>
          </a:p>
        </p:txBody>
      </p:sp>
      <p:pic>
        <p:nvPicPr>
          <p:cNvPr id="12" name="Picture 11" descr="A graph of a person&#10;&#10;AI-generated content may be incorrect.">
            <a:extLst>
              <a:ext uri="{FF2B5EF4-FFF2-40B4-BE49-F238E27FC236}">
                <a16:creationId xmlns:a16="http://schemas.microsoft.com/office/drawing/2014/main" id="{5296B57B-1486-D299-CFED-3ECDD32834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067" y="4190652"/>
            <a:ext cx="9391805" cy="2057748"/>
          </a:xfrm>
          <a:prstGeom prst="rect">
            <a:avLst/>
          </a:prstGeom>
        </p:spPr>
      </p:pic>
    </p:spTree>
    <p:extLst>
      <p:ext uri="{BB962C8B-B14F-4D97-AF65-F5344CB8AC3E}">
        <p14:creationId xmlns:p14="http://schemas.microsoft.com/office/powerpoint/2010/main" val="2773663779"/>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91430-42AD-6805-71E2-DF05C89B89AE}"/>
              </a:ext>
            </a:extLst>
          </p:cNvPr>
          <p:cNvSpPr>
            <a:spLocks noGrp="1"/>
          </p:cNvSpPr>
          <p:nvPr>
            <p:ph type="title"/>
          </p:nvPr>
        </p:nvSpPr>
        <p:spPr/>
        <p:txBody>
          <a:bodyPr/>
          <a:lstStyle/>
          <a:p>
            <a:pPr marL="571500" indent="-571500">
              <a:buFont typeface="Wingdings" panose="05000000000000000000" pitchFamily="2" charset="2"/>
              <a:buChar char="v"/>
            </a:pPr>
            <a:r>
              <a:rPr lang="en-US" dirty="0">
                <a:solidFill>
                  <a:schemeClr val="tx1"/>
                </a:solidFill>
              </a:rPr>
              <a:t>C</a:t>
            </a:r>
            <a:r>
              <a:rPr lang="en-US" sz="3200" dirty="0">
                <a:solidFill>
                  <a:schemeClr val="tx1"/>
                </a:solidFill>
              </a:rPr>
              <a:t>alculate the correlation matrix.</a:t>
            </a:r>
            <a:endParaRPr lang="en-US" dirty="0">
              <a:solidFill>
                <a:schemeClr val="tx1"/>
              </a:solidFill>
            </a:endParaRPr>
          </a:p>
        </p:txBody>
      </p:sp>
      <p:pic>
        <p:nvPicPr>
          <p:cNvPr id="8" name="Content Placeholder 7" descr="A chart with red and blue squares&#10;&#10;AI-generated content may be incorrect.">
            <a:extLst>
              <a:ext uri="{FF2B5EF4-FFF2-40B4-BE49-F238E27FC236}">
                <a16:creationId xmlns:a16="http://schemas.microsoft.com/office/drawing/2014/main" id="{F7B249CB-3DE4-C7C8-BC1B-2919BAD5D9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6111" y="1280778"/>
            <a:ext cx="8077759" cy="5124503"/>
          </a:xfrm>
        </p:spPr>
      </p:pic>
      <p:sp>
        <p:nvSpPr>
          <p:cNvPr id="4" name="Date Placeholder 3">
            <a:extLst>
              <a:ext uri="{FF2B5EF4-FFF2-40B4-BE49-F238E27FC236}">
                <a16:creationId xmlns:a16="http://schemas.microsoft.com/office/drawing/2014/main" id="{38D38A4B-FD9A-9E2C-762B-220BB4B06960}"/>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00BAF9E2-F21D-6913-16F2-91B1571F08E8}"/>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3973E9BF-10CA-1A2A-A3EE-6B0394DCA19F}"/>
              </a:ext>
            </a:extLst>
          </p:cNvPr>
          <p:cNvSpPr>
            <a:spLocks noGrp="1"/>
          </p:cNvSpPr>
          <p:nvPr>
            <p:ph type="sldNum" sz="quarter" idx="12"/>
          </p:nvPr>
        </p:nvSpPr>
        <p:spPr/>
        <p:txBody>
          <a:bodyPr/>
          <a:lstStyle/>
          <a:p>
            <a:fld id="{7BE69E03-4804-4553-A1EC-F089884EF50F}" type="slidenum">
              <a:rPr lang="en-US" smtClean="0">
                <a:solidFill>
                  <a:schemeClr val="bg1"/>
                </a:solidFill>
              </a:rPr>
              <a:t>24</a:t>
            </a:fld>
            <a:endParaRPr lang="en-US" dirty="0">
              <a:solidFill>
                <a:schemeClr val="bg1"/>
              </a:solidFill>
            </a:endParaRPr>
          </a:p>
        </p:txBody>
      </p:sp>
    </p:spTree>
    <p:extLst>
      <p:ext uri="{BB962C8B-B14F-4D97-AF65-F5344CB8AC3E}">
        <p14:creationId xmlns:p14="http://schemas.microsoft.com/office/powerpoint/2010/main" val="2448106208"/>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FD3D-2D4A-D8EC-A22F-3584B807B1E2}"/>
              </a:ext>
            </a:extLst>
          </p:cNvPr>
          <p:cNvSpPr>
            <a:spLocks noGrp="1"/>
          </p:cNvSpPr>
          <p:nvPr>
            <p:ph type="title"/>
          </p:nvPr>
        </p:nvSpPr>
        <p:spPr>
          <a:xfrm>
            <a:off x="646112" y="452718"/>
            <a:ext cx="4165580" cy="1400530"/>
          </a:xfrm>
        </p:spPr>
        <p:txBody>
          <a:bodyPr>
            <a:normAutofit/>
          </a:bodyPr>
          <a:lstStyle/>
          <a:p>
            <a:pPr marL="571500" indent="-571500">
              <a:lnSpc>
                <a:spcPct val="90000"/>
              </a:lnSpc>
              <a:buFont typeface="Wingdings" panose="05000000000000000000" pitchFamily="2" charset="2"/>
              <a:buChar char="v"/>
            </a:pPr>
            <a:r>
              <a:rPr lang="en-US" sz="3300" dirty="0"/>
              <a:t>Average Weight by obesity Level</a:t>
            </a:r>
          </a:p>
        </p:txBody>
      </p:sp>
      <p:sp>
        <p:nvSpPr>
          <p:cNvPr id="13" name="Freeform: Shape 12">
            <a:extLst>
              <a:ext uri="{FF2B5EF4-FFF2-40B4-BE49-F238E27FC236}">
                <a16:creationId xmlns:a16="http://schemas.microsoft.com/office/drawing/2014/main" id="{7DAA46B9-B7E8-4487-B28E-C63A6EB7AA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en-US" dirty="0"/>
          </a:p>
        </p:txBody>
      </p:sp>
      <p:sp>
        <p:nvSpPr>
          <p:cNvPr id="16" name="Freeform 23">
            <a:extLst>
              <a:ext uri="{FF2B5EF4-FFF2-40B4-BE49-F238E27FC236}">
                <a16:creationId xmlns:a16="http://schemas.microsoft.com/office/drawing/2014/main" id="{C866818C-1E5F-475A-B310-3C06B555FB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dirty="0"/>
          </a:p>
        </p:txBody>
      </p:sp>
      <p:pic>
        <p:nvPicPr>
          <p:cNvPr id="8" name="Content Placeholder 7" descr="A graph with a bar and text&#10;&#10;AI-generated content may be incorrect.">
            <a:extLst>
              <a:ext uri="{FF2B5EF4-FFF2-40B4-BE49-F238E27FC236}">
                <a16:creationId xmlns:a16="http://schemas.microsoft.com/office/drawing/2014/main" id="{82F37E70-2EA6-D976-7DB8-B9222F35E4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4410" y="1389922"/>
            <a:ext cx="5449471" cy="1198883"/>
          </a:xfrm>
          <a:prstGeom prst="rect">
            <a:avLst/>
          </a:prstGeom>
          <a:effectLst/>
        </p:spPr>
      </p:pic>
      <p:sp>
        <p:nvSpPr>
          <p:cNvPr id="18" name="Rectangle 17">
            <a:extLst>
              <a:ext uri="{FF2B5EF4-FFF2-40B4-BE49-F238E27FC236}">
                <a16:creationId xmlns:a16="http://schemas.microsoft.com/office/drawing/2014/main" id="{D12AFDE8-E1ED-4A49-B8B3-4953F4B8A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6" name="Slide Number Placeholder 5">
            <a:extLst>
              <a:ext uri="{FF2B5EF4-FFF2-40B4-BE49-F238E27FC236}">
                <a16:creationId xmlns:a16="http://schemas.microsoft.com/office/drawing/2014/main" id="{7655998C-F017-7495-37BA-5C825A1D9259}"/>
              </a:ext>
            </a:extLst>
          </p:cNvPr>
          <p:cNvSpPr>
            <a:spLocks noGrp="1"/>
          </p:cNvSpPr>
          <p:nvPr>
            <p:ph type="sldNum" sz="quarter" idx="12"/>
          </p:nvPr>
        </p:nvSpPr>
        <p:spPr>
          <a:xfrm>
            <a:off x="10352540" y="295729"/>
            <a:ext cx="838199" cy="767687"/>
          </a:xfrm>
        </p:spPr>
        <p:txBody>
          <a:bodyPr>
            <a:normAutofit/>
          </a:bodyPr>
          <a:lstStyle/>
          <a:p>
            <a:pPr>
              <a:spcAft>
                <a:spcPts val="600"/>
              </a:spcAft>
            </a:pPr>
            <a:fld id="{7BE69E03-4804-4553-A1EC-F089884EF50F}" type="slidenum">
              <a:rPr lang="en-US" smtClean="0">
                <a:solidFill>
                  <a:schemeClr val="bg1"/>
                </a:solidFill>
              </a:rPr>
              <a:pPr>
                <a:spcAft>
                  <a:spcPts val="600"/>
                </a:spcAft>
              </a:pPr>
              <a:t>25</a:t>
            </a:fld>
            <a:endParaRPr lang="en-US" dirty="0">
              <a:solidFill>
                <a:schemeClr val="bg1"/>
              </a:solidFill>
            </a:endParaRPr>
          </a:p>
        </p:txBody>
      </p:sp>
      <p:sp>
        <p:nvSpPr>
          <p:cNvPr id="14" name="Content Placeholder 13">
            <a:extLst>
              <a:ext uri="{FF2B5EF4-FFF2-40B4-BE49-F238E27FC236}">
                <a16:creationId xmlns:a16="http://schemas.microsoft.com/office/drawing/2014/main" id="{2934512D-0225-A22C-A090-A9A6968329FA}"/>
              </a:ext>
            </a:extLst>
          </p:cNvPr>
          <p:cNvSpPr>
            <a:spLocks noGrp="1"/>
          </p:cNvSpPr>
          <p:nvPr>
            <p:ph idx="1"/>
          </p:nvPr>
        </p:nvSpPr>
        <p:spPr>
          <a:xfrm>
            <a:off x="646111" y="3709641"/>
            <a:ext cx="4165146" cy="1614616"/>
          </a:xfrm>
        </p:spPr>
        <p:txBody>
          <a:bodyPr>
            <a:normAutofit/>
          </a:bodyPr>
          <a:lstStyle/>
          <a:p>
            <a:pPr>
              <a:buFont typeface="Wingdings" panose="05000000000000000000" pitchFamily="2" charset="2"/>
              <a:buChar char="v"/>
            </a:pPr>
            <a:r>
              <a:rPr lang="en-US" sz="3200" dirty="0"/>
              <a:t>D</a:t>
            </a:r>
            <a:r>
              <a:rPr lang="en-US" sz="2800" dirty="0"/>
              <a:t>istribution of CAEC </a:t>
            </a:r>
            <a:r>
              <a:rPr lang="en-US" sz="2400" dirty="0"/>
              <a:t>(</a:t>
            </a:r>
            <a:r>
              <a:rPr lang="en-US" sz="2400" b="0" i="0" dirty="0">
                <a:effectLst/>
                <a:latin typeface="gg sans"/>
              </a:rPr>
              <a:t>Frequency of consuming food between meals)</a:t>
            </a:r>
            <a:endParaRPr lang="en-US" sz="3200" dirty="0"/>
          </a:p>
        </p:txBody>
      </p:sp>
      <p:sp>
        <p:nvSpPr>
          <p:cNvPr id="5" name="Footer Placeholder 4">
            <a:extLst>
              <a:ext uri="{FF2B5EF4-FFF2-40B4-BE49-F238E27FC236}">
                <a16:creationId xmlns:a16="http://schemas.microsoft.com/office/drawing/2014/main" id="{33BCD9FB-14A5-1A00-9D52-316A44F313E5}"/>
              </a:ext>
            </a:extLst>
          </p:cNvPr>
          <p:cNvSpPr>
            <a:spLocks noGrp="1"/>
          </p:cNvSpPr>
          <p:nvPr>
            <p:ph type="ftr" sz="quarter" idx="11"/>
          </p:nvPr>
        </p:nvSpPr>
        <p:spPr>
          <a:xfrm>
            <a:off x="646111" y="6381750"/>
            <a:ext cx="3859795" cy="304801"/>
          </a:xfrm>
        </p:spPr>
        <p:txBody>
          <a:bodyPr>
            <a:normAutofit/>
          </a:bodyPr>
          <a:lstStyle/>
          <a:p>
            <a:pPr>
              <a:spcAft>
                <a:spcPts val="600"/>
              </a:spcAft>
            </a:pPr>
            <a:r>
              <a:rPr lang="en-US" dirty="0"/>
              <a:t>Sample Footer Text</a:t>
            </a:r>
          </a:p>
        </p:txBody>
      </p:sp>
      <p:pic>
        <p:nvPicPr>
          <p:cNvPr id="10" name="Picture 9" descr="A purple pie chart with numbers&#10;&#10;AI-generated content may be incorrect.">
            <a:extLst>
              <a:ext uri="{FF2B5EF4-FFF2-40B4-BE49-F238E27FC236}">
                <a16:creationId xmlns:a16="http://schemas.microsoft.com/office/drawing/2014/main" id="{DD545C2F-4B02-B7CF-9011-285BB128FC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4410" y="3709642"/>
            <a:ext cx="5537417" cy="2056770"/>
          </a:xfrm>
          <a:prstGeom prst="rect">
            <a:avLst/>
          </a:prstGeom>
          <a:effectLst/>
        </p:spPr>
      </p:pic>
      <p:sp>
        <p:nvSpPr>
          <p:cNvPr id="4" name="Date Placeholder 3">
            <a:extLst>
              <a:ext uri="{FF2B5EF4-FFF2-40B4-BE49-F238E27FC236}">
                <a16:creationId xmlns:a16="http://schemas.microsoft.com/office/drawing/2014/main" id="{843D02CD-93EC-EBCD-B96A-CE606A080C1C}"/>
              </a:ext>
            </a:extLst>
          </p:cNvPr>
          <p:cNvSpPr>
            <a:spLocks noGrp="1"/>
          </p:cNvSpPr>
          <p:nvPr>
            <p:ph type="dt" sz="half" idx="10"/>
          </p:nvPr>
        </p:nvSpPr>
        <p:spPr>
          <a:xfrm>
            <a:off x="8753437" y="6381750"/>
            <a:ext cx="2790444" cy="304799"/>
          </a:xfrm>
        </p:spPr>
        <p:txBody>
          <a:bodyPr anchor="t">
            <a:normAutofit/>
          </a:bodyPr>
          <a:lstStyle/>
          <a:p>
            <a:pPr algn="r">
              <a:spcAft>
                <a:spcPts val="600"/>
              </a:spcAft>
            </a:pPr>
            <a:fld id="{57997BA6-BEF8-495F-ACCD-8D19769E4FC6}" type="datetime2">
              <a:rPr lang="en-US">
                <a:solidFill>
                  <a:schemeClr val="accent1"/>
                </a:solidFill>
              </a:rPr>
              <a:pPr algn="r">
                <a:spcAft>
                  <a:spcPts val="600"/>
                </a:spcAft>
              </a:pPr>
              <a:t>Sunday, May 18, 2025</a:t>
            </a:fld>
            <a:endParaRPr lang="en-US" dirty="0">
              <a:solidFill>
                <a:schemeClr val="accent1"/>
              </a:solidFill>
            </a:endParaRPr>
          </a:p>
        </p:txBody>
      </p:sp>
    </p:spTree>
    <p:extLst>
      <p:ext uri="{BB962C8B-B14F-4D97-AF65-F5344CB8AC3E}">
        <p14:creationId xmlns:p14="http://schemas.microsoft.com/office/powerpoint/2010/main" val="2342162022"/>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5E5D08E-980B-6BCD-800E-7ECED2D6A512}"/>
              </a:ext>
            </a:extLst>
          </p:cNvPr>
          <p:cNvSpPr>
            <a:spLocks noGrp="1"/>
          </p:cNvSpPr>
          <p:nvPr>
            <p:ph type="title"/>
          </p:nvPr>
        </p:nvSpPr>
        <p:spPr>
          <a:xfrm>
            <a:off x="648931" y="629266"/>
            <a:ext cx="4166510" cy="1622321"/>
          </a:xfrm>
        </p:spPr>
        <p:txBody>
          <a:bodyPr>
            <a:normAutofit/>
          </a:bodyPr>
          <a:lstStyle/>
          <a:p>
            <a:pPr marL="571500" indent="-571500">
              <a:lnSpc>
                <a:spcPct val="90000"/>
              </a:lnSpc>
              <a:buFont typeface="Wingdings" panose="05000000000000000000" pitchFamily="2" charset="2"/>
              <a:buChar char="v"/>
            </a:pPr>
            <a:r>
              <a:rPr lang="en-US" sz="3600" b="0" i="0" dirty="0">
                <a:solidFill>
                  <a:srgbClr val="EBEBEB"/>
                </a:solidFill>
                <a:effectLst/>
                <a:latin typeface="inherit"/>
              </a:rPr>
              <a:t>Distribution of weights</a:t>
            </a:r>
            <a:br>
              <a:rPr lang="en-US" sz="3600" b="0" i="0" dirty="0">
                <a:solidFill>
                  <a:srgbClr val="EBEBEB"/>
                </a:solidFill>
                <a:effectLst/>
                <a:latin typeface="inherit"/>
              </a:rPr>
            </a:br>
            <a:endParaRPr lang="en-US" sz="3600" dirty="0">
              <a:solidFill>
                <a:srgbClr val="EBEBEB"/>
              </a:solidFill>
            </a:endParaRPr>
          </a:p>
        </p:txBody>
      </p:sp>
      <p:sp>
        <p:nvSpPr>
          <p:cNvPr id="17"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dirty="0"/>
          </a:p>
        </p:txBody>
      </p:sp>
      <p:sp useBgFill="1">
        <p:nvSpPr>
          <p:cNvPr id="19" name="Freeform: Shape 18">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US" dirty="0"/>
          </a:p>
        </p:txBody>
      </p:sp>
      <p:pic>
        <p:nvPicPr>
          <p:cNvPr id="8" name="Content Placeholder 7" descr="A graph of blue bars&#10;&#10;AI-generated content may be incorrect.">
            <a:extLst>
              <a:ext uri="{FF2B5EF4-FFF2-40B4-BE49-F238E27FC236}">
                <a16:creationId xmlns:a16="http://schemas.microsoft.com/office/drawing/2014/main" id="{687826E6-EC06-7D4A-B3B3-795DC86B3E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4874" y="1220693"/>
            <a:ext cx="5449889" cy="1321598"/>
          </a:xfrm>
          <a:prstGeom prst="rect">
            <a:avLst/>
          </a:prstGeom>
          <a:effectLst/>
        </p:spPr>
      </p:pic>
      <p:sp>
        <p:nvSpPr>
          <p:cNvPr id="21" name="Rectangle 20">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6" name="Slide Number Placeholder 5">
            <a:extLst>
              <a:ext uri="{FF2B5EF4-FFF2-40B4-BE49-F238E27FC236}">
                <a16:creationId xmlns:a16="http://schemas.microsoft.com/office/drawing/2014/main" id="{3B8310BE-4D89-27FB-6E93-F7093A8A146C}"/>
              </a:ext>
            </a:extLst>
          </p:cNvPr>
          <p:cNvSpPr>
            <a:spLocks noGrp="1"/>
          </p:cNvSpPr>
          <p:nvPr>
            <p:ph type="sldNum" sz="quarter" idx="12"/>
          </p:nvPr>
        </p:nvSpPr>
        <p:spPr>
          <a:xfrm>
            <a:off x="10352540" y="295729"/>
            <a:ext cx="838199" cy="767687"/>
          </a:xfrm>
        </p:spPr>
        <p:txBody>
          <a:bodyPr>
            <a:normAutofit/>
          </a:bodyPr>
          <a:lstStyle/>
          <a:p>
            <a:pPr>
              <a:spcAft>
                <a:spcPts val="600"/>
              </a:spcAft>
            </a:pPr>
            <a:fld id="{7BE69E03-4804-4553-A1EC-F089884EF50F}" type="slidenum">
              <a:rPr lang="en-US">
                <a:solidFill>
                  <a:schemeClr val="tx1"/>
                </a:solidFill>
              </a:rPr>
              <a:pPr>
                <a:spcAft>
                  <a:spcPts val="600"/>
                </a:spcAft>
              </a:pPr>
              <a:t>26</a:t>
            </a:fld>
            <a:endParaRPr lang="en-US" dirty="0">
              <a:solidFill>
                <a:schemeClr val="tx1"/>
              </a:solidFill>
            </a:endParaRPr>
          </a:p>
        </p:txBody>
      </p:sp>
      <p:sp>
        <p:nvSpPr>
          <p:cNvPr id="12" name="Content Placeholder 11">
            <a:extLst>
              <a:ext uri="{FF2B5EF4-FFF2-40B4-BE49-F238E27FC236}">
                <a16:creationId xmlns:a16="http://schemas.microsoft.com/office/drawing/2014/main" id="{38F0715C-AFB4-CD0C-8E01-4CC747BCA219}"/>
              </a:ext>
            </a:extLst>
          </p:cNvPr>
          <p:cNvSpPr>
            <a:spLocks noGrp="1"/>
          </p:cNvSpPr>
          <p:nvPr>
            <p:ph idx="1"/>
          </p:nvPr>
        </p:nvSpPr>
        <p:spPr>
          <a:xfrm>
            <a:off x="648931" y="3709641"/>
            <a:ext cx="4166509" cy="2514178"/>
          </a:xfrm>
        </p:spPr>
        <p:txBody>
          <a:bodyPr>
            <a:normAutofit/>
          </a:bodyPr>
          <a:lstStyle/>
          <a:p>
            <a:pPr>
              <a:buFont typeface="Wingdings" panose="05000000000000000000" pitchFamily="2" charset="2"/>
              <a:buChar char="v"/>
            </a:pPr>
            <a:r>
              <a:rPr lang="en-US" sz="3200" b="0" i="0" dirty="0">
                <a:solidFill>
                  <a:schemeClr val="bg1"/>
                </a:solidFill>
                <a:effectLst/>
                <a:latin typeface="inherit"/>
              </a:rPr>
              <a:t>Family history with overweight Distribution</a:t>
            </a:r>
          </a:p>
          <a:p>
            <a:pPr>
              <a:buFont typeface="Wingdings" panose="05000000000000000000" pitchFamily="2" charset="2"/>
              <a:buChar char="v"/>
            </a:pPr>
            <a:endParaRPr lang="en-US" dirty="0">
              <a:solidFill>
                <a:srgbClr val="EBEBEB"/>
              </a:solidFill>
            </a:endParaRPr>
          </a:p>
        </p:txBody>
      </p:sp>
      <p:sp>
        <p:nvSpPr>
          <p:cNvPr id="5" name="Footer Placeholder 4">
            <a:extLst>
              <a:ext uri="{FF2B5EF4-FFF2-40B4-BE49-F238E27FC236}">
                <a16:creationId xmlns:a16="http://schemas.microsoft.com/office/drawing/2014/main" id="{04BEF4A7-1990-7477-F62C-184A84AE73C2}"/>
              </a:ext>
            </a:extLst>
          </p:cNvPr>
          <p:cNvSpPr>
            <a:spLocks noGrp="1"/>
          </p:cNvSpPr>
          <p:nvPr>
            <p:ph type="ftr" sz="quarter" idx="11"/>
          </p:nvPr>
        </p:nvSpPr>
        <p:spPr>
          <a:xfrm>
            <a:off x="636914" y="6355080"/>
            <a:ext cx="4206240" cy="304801"/>
          </a:xfrm>
        </p:spPr>
        <p:txBody>
          <a:bodyPr>
            <a:normAutofit/>
          </a:bodyPr>
          <a:lstStyle/>
          <a:p>
            <a:pPr>
              <a:spcAft>
                <a:spcPts val="600"/>
              </a:spcAft>
            </a:pPr>
            <a:r>
              <a:rPr lang="en-US" dirty="0">
                <a:solidFill>
                  <a:srgbClr val="FFFFFF">
                    <a:alpha val="60000"/>
                  </a:srgbClr>
                </a:solidFill>
              </a:rPr>
              <a:t>Sample Footer Text</a:t>
            </a:r>
          </a:p>
        </p:txBody>
      </p:sp>
      <p:sp>
        <p:nvSpPr>
          <p:cNvPr id="4" name="Date Placeholder 3">
            <a:extLst>
              <a:ext uri="{FF2B5EF4-FFF2-40B4-BE49-F238E27FC236}">
                <a16:creationId xmlns:a16="http://schemas.microsoft.com/office/drawing/2014/main" id="{CBF8BD5C-1EA3-AAFB-7D9A-BB6A5AD9D164}"/>
              </a:ext>
            </a:extLst>
          </p:cNvPr>
          <p:cNvSpPr>
            <a:spLocks noGrp="1"/>
          </p:cNvSpPr>
          <p:nvPr>
            <p:ph type="dt" sz="half" idx="10"/>
          </p:nvPr>
        </p:nvSpPr>
        <p:spPr>
          <a:xfrm>
            <a:off x="9254068" y="6355080"/>
            <a:ext cx="2290232" cy="304799"/>
          </a:xfrm>
        </p:spPr>
        <p:txBody>
          <a:bodyPr anchor="t">
            <a:normAutofit/>
          </a:bodyPr>
          <a:lstStyle/>
          <a:p>
            <a:pPr algn="r">
              <a:spcAft>
                <a:spcPts val="600"/>
              </a:spcAft>
            </a:pPr>
            <a:fld id="{57997BA6-BEF8-495F-ACCD-8D19769E4FC6}" type="datetime2">
              <a:rPr lang="en-US">
                <a:solidFill>
                  <a:schemeClr val="tx1">
                    <a:alpha val="60000"/>
                  </a:schemeClr>
                </a:solidFill>
              </a:rPr>
              <a:pPr algn="r">
                <a:spcAft>
                  <a:spcPts val="600"/>
                </a:spcAft>
              </a:pPr>
              <a:t>Sunday, May 18, 2025</a:t>
            </a:fld>
            <a:endParaRPr lang="en-US" dirty="0">
              <a:solidFill>
                <a:schemeClr val="tx1">
                  <a:alpha val="60000"/>
                </a:schemeClr>
              </a:solidFill>
            </a:endParaRPr>
          </a:p>
        </p:txBody>
      </p:sp>
      <p:pic>
        <p:nvPicPr>
          <p:cNvPr id="10" name="Picture 9" descr="A yellow and blue squares&#10;&#10;AI-generated content may be incorrect.">
            <a:extLst>
              <a:ext uri="{FF2B5EF4-FFF2-40B4-BE49-F238E27FC236}">
                <a16:creationId xmlns:a16="http://schemas.microsoft.com/office/drawing/2014/main" id="{A22F6D4D-C452-2E71-55D6-9496D9CD3D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9426" y="3429000"/>
            <a:ext cx="6161918" cy="2572109"/>
          </a:xfrm>
          <a:prstGeom prst="rect">
            <a:avLst/>
          </a:prstGeom>
        </p:spPr>
      </p:pic>
    </p:spTree>
    <p:extLst>
      <p:ext uri="{BB962C8B-B14F-4D97-AF65-F5344CB8AC3E}">
        <p14:creationId xmlns:p14="http://schemas.microsoft.com/office/powerpoint/2010/main" val="3858956367"/>
      </p:ext>
    </p:extLst>
  </p:cSld>
  <p:clrMapOvr>
    <a:overrideClrMapping bg1="lt1" tx1="dk1" bg2="lt2" tx2="dk2" accent1="accent1" accent2="accent2" accent3="accent3" accent4="accent4" accent5="accent5" accent6="accent6" hlink="hlink" folHlink="folHlink"/>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F87B3-8C59-9B5C-F5FC-CEEDA81285C5}"/>
              </a:ext>
            </a:extLst>
          </p:cNvPr>
          <p:cNvSpPr>
            <a:spLocks noGrp="1"/>
          </p:cNvSpPr>
          <p:nvPr>
            <p:ph type="title"/>
          </p:nvPr>
        </p:nvSpPr>
        <p:spPr>
          <a:xfrm>
            <a:off x="646111" y="452718"/>
            <a:ext cx="9404723" cy="918882"/>
          </a:xfrm>
        </p:spPr>
        <p:txBody>
          <a:bodyPr/>
          <a:lstStyle/>
          <a:p>
            <a:pPr marL="571500" indent="-571500">
              <a:buFont typeface="Wingdings" panose="05000000000000000000" pitchFamily="2" charset="2"/>
              <a:buChar char="v"/>
            </a:pPr>
            <a:r>
              <a:rPr lang="en-US" b="1" dirty="0">
                <a:solidFill>
                  <a:schemeClr val="tx1"/>
                </a:solidFill>
              </a:rPr>
              <a:t>L</a:t>
            </a:r>
            <a:r>
              <a:rPr lang="en-US" sz="2800" b="1" dirty="0">
                <a:solidFill>
                  <a:schemeClr val="tx1"/>
                </a:solidFill>
              </a:rPr>
              <a:t>ifestyle Factor And Obesity </a:t>
            </a:r>
            <a:endParaRPr lang="en-US" b="1" dirty="0">
              <a:solidFill>
                <a:schemeClr val="tx1"/>
              </a:solidFill>
            </a:endParaRPr>
          </a:p>
        </p:txBody>
      </p:sp>
      <p:sp>
        <p:nvSpPr>
          <p:cNvPr id="3" name="Content Placeholder 2">
            <a:extLst>
              <a:ext uri="{FF2B5EF4-FFF2-40B4-BE49-F238E27FC236}">
                <a16:creationId xmlns:a16="http://schemas.microsoft.com/office/drawing/2014/main" id="{D0BD17BC-FABC-A232-3D34-4C70C61EC3E0}"/>
              </a:ext>
            </a:extLst>
          </p:cNvPr>
          <p:cNvSpPr>
            <a:spLocks noGrp="1"/>
          </p:cNvSpPr>
          <p:nvPr>
            <p:ph idx="1"/>
          </p:nvPr>
        </p:nvSpPr>
        <p:spPr>
          <a:xfrm>
            <a:off x="645132" y="1289304"/>
            <a:ext cx="9404722" cy="5012642"/>
          </a:xfrm>
        </p:spPr>
        <p:txBody>
          <a:bodyPr>
            <a:normAutofit fontScale="77500" lnSpcReduction="20000"/>
          </a:bodyPr>
          <a:lstStyle/>
          <a:p>
            <a:pPr marL="0" indent="0">
              <a:lnSpc>
                <a:spcPct val="120000"/>
              </a:lnSpc>
              <a:buNone/>
            </a:pPr>
            <a:r>
              <a:rPr lang="en-US" sz="3000" dirty="0">
                <a:latin typeface="gg sans"/>
              </a:rPr>
              <a:t>1) </a:t>
            </a:r>
            <a:r>
              <a:rPr lang="en-US" sz="4400" dirty="0">
                <a:latin typeface="gg sans"/>
              </a:rPr>
              <a:t> </a:t>
            </a:r>
            <a:r>
              <a:rPr lang="en-US" sz="3300" b="1" dirty="0">
                <a:latin typeface="gg sans"/>
              </a:rPr>
              <a:t>Highly Related Factors:</a:t>
            </a:r>
          </a:p>
          <a:p>
            <a:pPr marL="0" indent="0">
              <a:lnSpc>
                <a:spcPct val="120000"/>
              </a:lnSpc>
              <a:buNone/>
            </a:pPr>
            <a:r>
              <a:rPr lang="en-US" dirty="0">
                <a:latin typeface="gg sans"/>
              </a:rPr>
              <a:t>	</a:t>
            </a:r>
            <a:r>
              <a:rPr lang="en-US" sz="2200" b="0" i="0" dirty="0">
                <a:solidFill>
                  <a:schemeClr val="tx2">
                    <a:lumMod val="90000"/>
                  </a:schemeClr>
                </a:solidFill>
                <a:effectLst/>
                <a:latin typeface="gg sans"/>
              </a:rPr>
              <a:t>Weight, BMI, and Weight_Age_Ratio are most strongly associated with obesity levels, 	both statistically</a:t>
            </a:r>
            <a:r>
              <a:rPr lang="en-US" sz="2200" dirty="0">
                <a:solidFill>
                  <a:schemeClr val="tx2">
                    <a:lumMod val="90000"/>
                  </a:schemeClr>
                </a:solidFill>
                <a:latin typeface="gg sans"/>
              </a:rPr>
              <a:t> </a:t>
            </a:r>
            <a:r>
              <a:rPr lang="en-US" sz="2200" b="0" i="0" dirty="0">
                <a:solidFill>
                  <a:schemeClr val="tx2">
                    <a:lumMod val="90000"/>
                  </a:schemeClr>
                </a:solidFill>
                <a:effectLst/>
                <a:latin typeface="gg sans"/>
              </a:rPr>
              <a:t>and intuitively.</a:t>
            </a:r>
          </a:p>
          <a:p>
            <a:pPr marL="0" indent="0">
              <a:lnSpc>
                <a:spcPct val="120000"/>
              </a:lnSpc>
              <a:buNone/>
            </a:pPr>
            <a:r>
              <a:rPr lang="en-US" sz="2800" b="0" i="0" dirty="0">
                <a:effectLst/>
                <a:latin typeface="gg sans"/>
              </a:rPr>
              <a:t>2</a:t>
            </a:r>
            <a:r>
              <a:rPr lang="en-US" sz="2800" dirty="0">
                <a:latin typeface="gg sans"/>
              </a:rPr>
              <a:t>)</a:t>
            </a:r>
            <a:r>
              <a:rPr lang="en-US" sz="3600" dirty="0">
                <a:latin typeface="gg sans"/>
              </a:rPr>
              <a:t> </a:t>
            </a:r>
            <a:r>
              <a:rPr lang="en-US" sz="3300" b="1" dirty="0">
                <a:latin typeface="gg sans"/>
              </a:rPr>
              <a:t>Lifestyle Behaviors Influencing Obesity</a:t>
            </a:r>
            <a:r>
              <a:rPr lang="en-US" sz="3800" b="1" dirty="0">
                <a:latin typeface="gg sans"/>
              </a:rPr>
              <a:t>:</a:t>
            </a:r>
            <a:r>
              <a:rPr lang="en-US" sz="5600" b="1" dirty="0">
                <a:latin typeface="gg sans"/>
              </a:rPr>
              <a:t> </a:t>
            </a:r>
            <a:endParaRPr lang="en-US" sz="5800" b="1" i="0" dirty="0">
              <a:effectLst/>
              <a:latin typeface="gg sans"/>
            </a:endParaRPr>
          </a:p>
          <a:p>
            <a:pPr lvl="1" indent="-342900">
              <a:lnSpc>
                <a:spcPct val="120000"/>
              </a:lnSpc>
            </a:pPr>
            <a:r>
              <a:rPr lang="en-US" sz="3200" b="0" i="0" dirty="0">
                <a:solidFill>
                  <a:schemeClr val="tx2">
                    <a:lumMod val="90000"/>
                  </a:schemeClr>
                </a:solidFill>
                <a:effectLst/>
                <a:latin typeface="gg sans"/>
              </a:rPr>
              <a:t>High-calorie food consumption (FAVC) and eating between meals (CAEC) show a positive relationship with obesity</a:t>
            </a:r>
            <a:r>
              <a:rPr lang="en-US" b="0" i="0" dirty="0">
                <a:solidFill>
                  <a:schemeClr val="tx2">
                    <a:lumMod val="90000"/>
                  </a:schemeClr>
                </a:solidFill>
                <a:effectLst/>
                <a:latin typeface="gg sans"/>
              </a:rPr>
              <a:t>.</a:t>
            </a:r>
          </a:p>
          <a:p>
            <a:pPr lvl="1" indent="-342900">
              <a:lnSpc>
                <a:spcPct val="120000"/>
              </a:lnSpc>
            </a:pPr>
            <a:r>
              <a:rPr lang="en-US" sz="2900" dirty="0">
                <a:solidFill>
                  <a:schemeClr val="tx2">
                    <a:lumMod val="90000"/>
                  </a:schemeClr>
                </a:solidFill>
                <a:latin typeface="gg sans"/>
              </a:rPr>
              <a:t> Vegetable consumption (FCVC) and physical activity (FAF) show a negative relationship, indicating healthier habits correlate with lower obesity</a:t>
            </a:r>
          </a:p>
          <a:p>
            <a:pPr lvl="1" indent="-342900">
              <a:lnSpc>
                <a:spcPct val="120000"/>
              </a:lnSpc>
            </a:pPr>
            <a:r>
              <a:rPr lang="en-US" sz="3200" dirty="0">
                <a:solidFill>
                  <a:schemeClr val="tx2">
                    <a:lumMod val="90000"/>
                  </a:schemeClr>
                </a:solidFill>
                <a:latin typeface="gg sans"/>
              </a:rPr>
              <a:t>Alcohol consumption (CALC) and number of meals (NCP) also show some positive relationship. </a:t>
            </a:r>
            <a:br>
              <a:rPr lang="en-US" sz="3200" dirty="0">
                <a:solidFill>
                  <a:schemeClr val="tx2">
                    <a:lumMod val="90000"/>
                  </a:schemeClr>
                </a:solidFill>
              </a:rPr>
            </a:br>
            <a:endParaRPr lang="en-US" sz="3200" dirty="0">
              <a:solidFill>
                <a:schemeClr val="tx2">
                  <a:lumMod val="90000"/>
                </a:schemeClr>
              </a:solidFill>
            </a:endParaRPr>
          </a:p>
          <a:p>
            <a:pPr lvl="1" indent="-342900">
              <a:lnSpc>
                <a:spcPct val="120000"/>
              </a:lnSpc>
            </a:pPr>
            <a:endParaRPr lang="en-US" sz="2900" b="0" i="0" dirty="0">
              <a:solidFill>
                <a:schemeClr val="tx2">
                  <a:lumMod val="90000"/>
                </a:schemeClr>
              </a:solidFill>
              <a:effectLst/>
              <a:latin typeface="gg sans"/>
            </a:endParaRPr>
          </a:p>
        </p:txBody>
      </p:sp>
      <p:sp>
        <p:nvSpPr>
          <p:cNvPr id="4" name="Date Placeholder 3">
            <a:extLst>
              <a:ext uri="{FF2B5EF4-FFF2-40B4-BE49-F238E27FC236}">
                <a16:creationId xmlns:a16="http://schemas.microsoft.com/office/drawing/2014/main" id="{26CE7A1A-86A5-A0BE-2843-6C8FBB1D7C12}"/>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95072C95-B6C5-F582-E09D-59816B16CC7F}"/>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9C99DEAE-D12E-9699-2030-619692358EAB}"/>
              </a:ext>
            </a:extLst>
          </p:cNvPr>
          <p:cNvSpPr>
            <a:spLocks noGrp="1"/>
          </p:cNvSpPr>
          <p:nvPr>
            <p:ph type="sldNum" sz="quarter" idx="12"/>
          </p:nvPr>
        </p:nvSpPr>
        <p:spPr/>
        <p:txBody>
          <a:bodyPr/>
          <a:lstStyle/>
          <a:p>
            <a:fld id="{7BE69E03-4804-4553-A1EC-F089884EF50F}" type="slidenum">
              <a:rPr lang="en-US" smtClean="0">
                <a:solidFill>
                  <a:schemeClr val="bg2"/>
                </a:solidFill>
              </a:rPr>
              <a:t>27</a:t>
            </a:fld>
            <a:endParaRPr lang="en-US" dirty="0">
              <a:solidFill>
                <a:schemeClr val="bg2"/>
              </a:solidFill>
            </a:endParaRPr>
          </a:p>
        </p:txBody>
      </p:sp>
    </p:spTree>
    <p:extLst>
      <p:ext uri="{BB962C8B-B14F-4D97-AF65-F5344CB8AC3E}">
        <p14:creationId xmlns:p14="http://schemas.microsoft.com/office/powerpoint/2010/main" val="179684448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circle(in)">
                                      <p:cBhvr>
                                        <p:cTn id="20" dur="2000"/>
                                        <p:tgtEl>
                                          <p:spTgt spid="3">
                                            <p:txEl>
                                              <p:pRg st="3" end="3"/>
                                            </p:txEl>
                                          </p:spTgt>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circle(in)">
                                      <p:cBhvr>
                                        <p:cTn id="23" dur="2000"/>
                                        <p:tgtEl>
                                          <p:spTgt spid="3">
                                            <p:txEl>
                                              <p:pRg st="4" end="4"/>
                                            </p:txEl>
                                          </p:spTgt>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circle(in)">
                                      <p:cBhvr>
                                        <p:cTn id="26"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E5799-175C-5E48-FC4E-2866DD09CD25}"/>
              </a:ext>
            </a:extLst>
          </p:cNvPr>
          <p:cNvSpPr>
            <a:spLocks noGrp="1"/>
          </p:cNvSpPr>
          <p:nvPr>
            <p:ph type="title"/>
          </p:nvPr>
        </p:nvSpPr>
        <p:spPr>
          <a:xfrm>
            <a:off x="777239" y="558191"/>
            <a:ext cx="9273595" cy="889609"/>
          </a:xfrm>
        </p:spPr>
        <p:txBody>
          <a:bodyPr/>
          <a:lstStyle/>
          <a:p>
            <a:pPr marL="571500" indent="-571500">
              <a:buFont typeface="Wingdings" panose="05000000000000000000" pitchFamily="2" charset="2"/>
              <a:buChar char="v"/>
            </a:pPr>
            <a:r>
              <a:rPr lang="en-US" sz="4000" b="1" dirty="0">
                <a:solidFill>
                  <a:schemeClr val="tx1"/>
                </a:solidFill>
              </a:rPr>
              <a:t>L</a:t>
            </a:r>
            <a:r>
              <a:rPr lang="en-US" sz="3200" b="1" dirty="0">
                <a:solidFill>
                  <a:schemeClr val="tx1"/>
                </a:solidFill>
              </a:rPr>
              <a:t>ifestyle Factor And Obesity (cont):</a:t>
            </a:r>
            <a:endParaRPr lang="en-US" sz="3200" dirty="0">
              <a:solidFill>
                <a:schemeClr val="tx1"/>
              </a:solidFill>
            </a:endParaRPr>
          </a:p>
        </p:txBody>
      </p:sp>
      <p:sp>
        <p:nvSpPr>
          <p:cNvPr id="3" name="Content Placeholder 2">
            <a:extLst>
              <a:ext uri="{FF2B5EF4-FFF2-40B4-BE49-F238E27FC236}">
                <a16:creationId xmlns:a16="http://schemas.microsoft.com/office/drawing/2014/main" id="{41CE4547-A1A9-6E55-23C1-989A55E0FCCE}"/>
              </a:ext>
            </a:extLst>
          </p:cNvPr>
          <p:cNvSpPr>
            <a:spLocks noGrp="1"/>
          </p:cNvSpPr>
          <p:nvPr>
            <p:ph idx="1"/>
          </p:nvPr>
        </p:nvSpPr>
        <p:spPr>
          <a:xfrm>
            <a:off x="776258" y="1709928"/>
            <a:ext cx="9273595" cy="2586175"/>
          </a:xfrm>
        </p:spPr>
        <p:txBody>
          <a:bodyPr/>
          <a:lstStyle/>
          <a:p>
            <a:pPr marL="0" indent="0">
              <a:buNone/>
            </a:pPr>
            <a:r>
              <a:rPr lang="en-US" dirty="0"/>
              <a:t>3) </a:t>
            </a:r>
            <a:r>
              <a:rPr lang="en-US" sz="2400" b="1" i="0" dirty="0">
                <a:effectLst/>
                <a:latin typeface="gg sans"/>
              </a:rPr>
              <a:t>Weaker or Non-significant Factors:</a:t>
            </a:r>
            <a:endParaRPr lang="en-US" sz="2400" dirty="0">
              <a:solidFill>
                <a:schemeClr val="tx2">
                  <a:lumMod val="75000"/>
                </a:schemeClr>
              </a:solidFill>
              <a:latin typeface="gg sans"/>
            </a:endParaRPr>
          </a:p>
          <a:p>
            <a:pPr lvl="1">
              <a:buFont typeface="Wingdings" panose="05000000000000000000" pitchFamily="2" charset="2"/>
              <a:buChar char="Ø"/>
            </a:pPr>
            <a:r>
              <a:rPr lang="en-US" sz="2200" b="0" i="0" dirty="0">
                <a:solidFill>
                  <a:schemeClr val="tx2">
                    <a:lumMod val="90000"/>
                  </a:schemeClr>
                </a:solidFill>
                <a:effectLst/>
                <a:latin typeface="gg sans"/>
              </a:rPr>
              <a:t>Smoking, screen time (TUE), and transportation (MTRANS) seem less correlated.</a:t>
            </a:r>
          </a:p>
        </p:txBody>
      </p:sp>
      <p:sp>
        <p:nvSpPr>
          <p:cNvPr id="4" name="Date Placeholder 3">
            <a:extLst>
              <a:ext uri="{FF2B5EF4-FFF2-40B4-BE49-F238E27FC236}">
                <a16:creationId xmlns:a16="http://schemas.microsoft.com/office/drawing/2014/main" id="{478B6DBC-A657-0621-3A11-F45246F8D11A}"/>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453F8392-CF2B-3BF3-894A-34CE91253405}"/>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9BBF74D7-0A18-78E2-1704-98CAC9E8F61A}"/>
              </a:ext>
            </a:extLst>
          </p:cNvPr>
          <p:cNvSpPr>
            <a:spLocks noGrp="1"/>
          </p:cNvSpPr>
          <p:nvPr>
            <p:ph type="sldNum" sz="quarter" idx="12"/>
          </p:nvPr>
        </p:nvSpPr>
        <p:spPr/>
        <p:txBody>
          <a:bodyPr/>
          <a:lstStyle/>
          <a:p>
            <a:fld id="{7BE69E03-4804-4553-A1EC-F089884EF50F}" type="slidenum">
              <a:rPr lang="en-US" smtClean="0">
                <a:solidFill>
                  <a:schemeClr val="bg2"/>
                </a:solidFill>
              </a:rPr>
              <a:t>28</a:t>
            </a:fld>
            <a:endParaRPr lang="en-US" dirty="0">
              <a:solidFill>
                <a:schemeClr val="bg2"/>
              </a:solidFill>
            </a:endParaRPr>
          </a:p>
        </p:txBody>
      </p:sp>
    </p:spTree>
    <p:extLst>
      <p:ext uri="{BB962C8B-B14F-4D97-AF65-F5344CB8AC3E}">
        <p14:creationId xmlns:p14="http://schemas.microsoft.com/office/powerpoint/2010/main" val="188395919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24B16-28ED-F064-2C94-A04841C95D6B}"/>
              </a:ext>
            </a:extLst>
          </p:cNvPr>
          <p:cNvSpPr>
            <a:spLocks noGrp="1"/>
          </p:cNvSpPr>
          <p:nvPr>
            <p:ph type="title"/>
          </p:nvPr>
        </p:nvSpPr>
        <p:spPr>
          <a:xfrm>
            <a:off x="429769" y="452718"/>
            <a:ext cx="9621066" cy="845730"/>
          </a:xfrm>
        </p:spPr>
        <p:txBody>
          <a:bodyPr/>
          <a:lstStyle/>
          <a:p>
            <a:pPr marL="571500" indent="-571500">
              <a:buFont typeface="Wingdings" panose="05000000000000000000" pitchFamily="2" charset="2"/>
              <a:buChar char="v"/>
            </a:pPr>
            <a:r>
              <a:rPr lang="en-US" b="1" dirty="0">
                <a:solidFill>
                  <a:schemeClr val="tx1"/>
                </a:solidFill>
              </a:rPr>
              <a:t>C</a:t>
            </a:r>
            <a:r>
              <a:rPr lang="en-US" sz="3200" b="1" dirty="0">
                <a:solidFill>
                  <a:schemeClr val="tx1"/>
                </a:solidFill>
              </a:rPr>
              <a:t>onclusion</a:t>
            </a:r>
            <a:r>
              <a:rPr lang="en-US" b="1" dirty="0">
                <a:solidFill>
                  <a:schemeClr val="tx1"/>
                </a:solidFill>
              </a:rPr>
              <a:t> </a:t>
            </a:r>
          </a:p>
        </p:txBody>
      </p:sp>
      <p:sp>
        <p:nvSpPr>
          <p:cNvPr id="3" name="Content Placeholder 2">
            <a:extLst>
              <a:ext uri="{FF2B5EF4-FFF2-40B4-BE49-F238E27FC236}">
                <a16:creationId xmlns:a16="http://schemas.microsoft.com/office/drawing/2014/main" id="{851B3AF3-20AD-18B1-215D-0FC5247FF793}"/>
              </a:ext>
            </a:extLst>
          </p:cNvPr>
          <p:cNvSpPr>
            <a:spLocks noGrp="1"/>
          </p:cNvSpPr>
          <p:nvPr>
            <p:ph idx="1"/>
          </p:nvPr>
        </p:nvSpPr>
        <p:spPr>
          <a:xfrm>
            <a:off x="428788" y="1298448"/>
            <a:ext cx="9621066" cy="5239512"/>
          </a:xfrm>
        </p:spPr>
        <p:txBody>
          <a:bodyPr>
            <a:normAutofit fontScale="92500" lnSpcReduction="20000"/>
          </a:bodyPr>
          <a:lstStyle/>
          <a:p>
            <a:endParaRPr lang="en-US" b="1" dirty="0"/>
          </a:p>
          <a:p>
            <a:pPr>
              <a:lnSpc>
                <a:spcPct val="160000"/>
              </a:lnSpc>
            </a:pPr>
            <a:r>
              <a:rPr lang="en-US" dirty="0">
                <a:solidFill>
                  <a:schemeClr val="tx2">
                    <a:lumMod val="90000"/>
                  </a:schemeClr>
                </a:solidFill>
              </a:rPr>
              <a:t>In this project, we developed and evaluated machine learning models to predict obesity levels based on various personal and lifestyle features. After preprocessing the dataset, we applied multiple classification algorithms, including [mention the models used, e.g., Logistic Regression, Decision Tree, Random Forest], and assessed their performance using metrics such as accuracy, precision, recall, and F1-score.</a:t>
            </a:r>
          </a:p>
          <a:p>
            <a:pPr>
              <a:lnSpc>
                <a:spcPct val="160000"/>
              </a:lnSpc>
            </a:pPr>
            <a:r>
              <a:rPr lang="en-US" dirty="0">
                <a:solidFill>
                  <a:schemeClr val="tx2">
                    <a:lumMod val="90000"/>
                  </a:schemeClr>
                </a:solidFill>
              </a:rPr>
              <a:t>The results showed that [mention the best-performing model] achieved the highest accuracy of </a:t>
            </a:r>
            <a:r>
              <a:rPr lang="en-US" b="1" dirty="0">
                <a:solidFill>
                  <a:schemeClr val="tx2">
                    <a:lumMod val="90000"/>
                  </a:schemeClr>
                </a:solidFill>
              </a:rPr>
              <a:t>[insert accuracy, e.g., 92%]</a:t>
            </a:r>
            <a:r>
              <a:rPr lang="en-US" dirty="0">
                <a:solidFill>
                  <a:schemeClr val="tx2">
                    <a:lumMod val="90000"/>
                  </a:schemeClr>
                </a:solidFill>
              </a:rPr>
              <a:t>, indicating its effectiveness in identifying individuals at risk of obesity. These findings highlight the potential of machine learning in supporting early intervention strategies and personalized health recommendations.</a:t>
            </a:r>
          </a:p>
        </p:txBody>
      </p:sp>
      <p:sp>
        <p:nvSpPr>
          <p:cNvPr id="4" name="Date Placeholder 3">
            <a:extLst>
              <a:ext uri="{FF2B5EF4-FFF2-40B4-BE49-F238E27FC236}">
                <a16:creationId xmlns:a16="http://schemas.microsoft.com/office/drawing/2014/main" id="{9319A49E-7B76-57B5-0642-EFD64C0DB541}"/>
              </a:ext>
            </a:extLst>
          </p:cNvPr>
          <p:cNvSpPr>
            <a:spLocks noGrp="1"/>
          </p:cNvSpPr>
          <p:nvPr>
            <p:ph type="dt" sz="half" idx="10"/>
          </p:nvPr>
        </p:nvSpPr>
        <p:spPr/>
        <p:txBody>
          <a:bodyPr/>
          <a:lstStyle/>
          <a:p>
            <a:fld id="{57997BA6-BEF8-495F-ACCD-8D19769E4FC6}" type="datetime2">
              <a:rPr lang="en-US" smtClean="0"/>
              <a:t>Sunday, May 18, 2025</a:t>
            </a:fld>
            <a:endParaRPr lang="en-US" dirty="0"/>
          </a:p>
        </p:txBody>
      </p:sp>
      <p:sp>
        <p:nvSpPr>
          <p:cNvPr id="5" name="Footer Placeholder 4">
            <a:extLst>
              <a:ext uri="{FF2B5EF4-FFF2-40B4-BE49-F238E27FC236}">
                <a16:creationId xmlns:a16="http://schemas.microsoft.com/office/drawing/2014/main" id="{C71F46DA-FA67-0125-7E7B-23C1BAB08D7D}"/>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3ED4BC11-09E2-8B3E-0093-066057445EBE}"/>
              </a:ext>
            </a:extLst>
          </p:cNvPr>
          <p:cNvSpPr>
            <a:spLocks noGrp="1"/>
          </p:cNvSpPr>
          <p:nvPr>
            <p:ph type="sldNum" sz="quarter" idx="12"/>
          </p:nvPr>
        </p:nvSpPr>
        <p:spPr/>
        <p:txBody>
          <a:bodyPr/>
          <a:lstStyle/>
          <a:p>
            <a:fld id="{7BE69E03-4804-4553-A1EC-F089884EF50F}" type="slidenum">
              <a:rPr lang="en-US" smtClean="0">
                <a:solidFill>
                  <a:schemeClr val="bg2"/>
                </a:solidFill>
              </a:rPr>
              <a:t>29</a:t>
            </a:fld>
            <a:endParaRPr lang="en-US" dirty="0">
              <a:solidFill>
                <a:schemeClr val="bg2"/>
              </a:solidFill>
            </a:endParaRPr>
          </a:p>
        </p:txBody>
      </p:sp>
    </p:spTree>
    <p:extLst>
      <p:ext uri="{BB962C8B-B14F-4D97-AF65-F5344CB8AC3E}">
        <p14:creationId xmlns:p14="http://schemas.microsoft.com/office/powerpoint/2010/main" val="391782335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9BFF8E-0B35-0101-68EF-8AE5FE487936}"/>
              </a:ext>
            </a:extLst>
          </p:cNvPr>
          <p:cNvSpPr>
            <a:spLocks noGrp="1"/>
          </p:cNvSpPr>
          <p:nvPr>
            <p:ph type="dt" sz="half" idx="10"/>
          </p:nvPr>
        </p:nvSpPr>
        <p:spPr/>
        <p:txBody>
          <a:bodyPr/>
          <a:lstStyle/>
          <a:p>
            <a:fld id="{4EE98B79-F222-4FD1-8713-07459E1B5004}" type="datetime2">
              <a:rPr lang="en-US" smtClean="0"/>
              <a:t>Sunday, May 18, 2025</a:t>
            </a:fld>
            <a:endParaRPr lang="en-US" dirty="0"/>
          </a:p>
        </p:txBody>
      </p:sp>
      <p:sp>
        <p:nvSpPr>
          <p:cNvPr id="3" name="Footer Placeholder 2">
            <a:extLst>
              <a:ext uri="{FF2B5EF4-FFF2-40B4-BE49-F238E27FC236}">
                <a16:creationId xmlns:a16="http://schemas.microsoft.com/office/drawing/2014/main" id="{CABB8726-9EFC-A896-914D-850A09A8CFB1}"/>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0D8A08C7-897A-3378-1019-E4BE3ACC3290}"/>
              </a:ext>
            </a:extLst>
          </p:cNvPr>
          <p:cNvSpPr>
            <a:spLocks noGrp="1"/>
          </p:cNvSpPr>
          <p:nvPr>
            <p:ph type="sldNum" sz="quarter" idx="12"/>
          </p:nvPr>
        </p:nvSpPr>
        <p:spPr/>
        <p:txBody>
          <a:bodyPr/>
          <a:lstStyle/>
          <a:p>
            <a:fld id="{7BE69E03-4804-4553-A1EC-F089884EF50F}" type="slidenum">
              <a:rPr lang="en-US" smtClean="0">
                <a:solidFill>
                  <a:schemeClr val="bg2"/>
                </a:solidFill>
              </a:rPr>
              <a:t>30</a:t>
            </a:fld>
            <a:endParaRPr lang="en-US" dirty="0">
              <a:solidFill>
                <a:schemeClr val="bg2"/>
              </a:solidFill>
            </a:endParaRPr>
          </a:p>
        </p:txBody>
      </p:sp>
      <p:sp>
        <p:nvSpPr>
          <p:cNvPr id="6" name="TextBox 5">
            <a:extLst>
              <a:ext uri="{FF2B5EF4-FFF2-40B4-BE49-F238E27FC236}">
                <a16:creationId xmlns:a16="http://schemas.microsoft.com/office/drawing/2014/main" id="{A4FA8030-2D30-DEDA-47E1-93F988298260}"/>
              </a:ext>
            </a:extLst>
          </p:cNvPr>
          <p:cNvSpPr txBox="1"/>
          <p:nvPr/>
        </p:nvSpPr>
        <p:spPr>
          <a:xfrm>
            <a:off x="384048" y="621792"/>
            <a:ext cx="8757666" cy="2930610"/>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US" sz="2400" dirty="0">
                <a:solidFill>
                  <a:schemeClr val="tx2">
                    <a:lumMod val="90000"/>
                  </a:schemeClr>
                </a:solidFill>
              </a:rPr>
              <a:t>Future work may involve testing the models on more diverse datasets, incorporating additional features such as genetic or psychological factors, and deploying the model in real-world health monitoring applications.</a:t>
            </a:r>
          </a:p>
        </p:txBody>
      </p:sp>
    </p:spTree>
    <p:extLst>
      <p:ext uri="{BB962C8B-B14F-4D97-AF65-F5344CB8AC3E}">
        <p14:creationId xmlns:p14="http://schemas.microsoft.com/office/powerpoint/2010/main" val="69025869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F4EEE9-D28C-B7EB-0311-10F40E0C5008}"/>
              </a:ext>
            </a:extLst>
          </p:cNvPr>
          <p:cNvSpPr>
            <a:spLocks noGrp="1"/>
          </p:cNvSpPr>
          <p:nvPr>
            <p:ph type="dt" sz="half" idx="10"/>
          </p:nvPr>
        </p:nvSpPr>
        <p:spPr/>
        <p:txBody>
          <a:bodyPr/>
          <a:lstStyle/>
          <a:p>
            <a:fld id="{4EE98B79-F222-4FD1-8713-07459E1B5004}" type="datetime2">
              <a:rPr lang="en-US" smtClean="0"/>
              <a:t>Sunday, May 18, 2025</a:t>
            </a:fld>
            <a:endParaRPr lang="en-US" dirty="0"/>
          </a:p>
        </p:txBody>
      </p:sp>
      <p:sp>
        <p:nvSpPr>
          <p:cNvPr id="3" name="Footer Placeholder 2">
            <a:extLst>
              <a:ext uri="{FF2B5EF4-FFF2-40B4-BE49-F238E27FC236}">
                <a16:creationId xmlns:a16="http://schemas.microsoft.com/office/drawing/2014/main" id="{64E08499-6A3A-9E95-B7AC-B2B6B4AE4475}"/>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729E62E2-4C0D-2B56-97E2-E9AD3EA4A42F}"/>
              </a:ext>
            </a:extLst>
          </p:cNvPr>
          <p:cNvSpPr>
            <a:spLocks noGrp="1"/>
          </p:cNvSpPr>
          <p:nvPr>
            <p:ph type="sldNum" sz="quarter" idx="12"/>
          </p:nvPr>
        </p:nvSpPr>
        <p:spPr/>
        <p:txBody>
          <a:bodyPr/>
          <a:lstStyle/>
          <a:p>
            <a:fld id="{7BE69E03-4804-4553-A1EC-F089884EF50F}" type="slidenum">
              <a:rPr lang="en-US" smtClean="0">
                <a:solidFill>
                  <a:schemeClr val="bg2"/>
                </a:solidFill>
              </a:rPr>
              <a:t>31</a:t>
            </a:fld>
            <a:endParaRPr lang="en-US" dirty="0">
              <a:solidFill>
                <a:schemeClr val="bg2"/>
              </a:solidFill>
            </a:endParaRPr>
          </a:p>
        </p:txBody>
      </p:sp>
      <p:sp>
        <p:nvSpPr>
          <p:cNvPr id="6" name="TextBox 5">
            <a:extLst>
              <a:ext uri="{FF2B5EF4-FFF2-40B4-BE49-F238E27FC236}">
                <a16:creationId xmlns:a16="http://schemas.microsoft.com/office/drawing/2014/main" id="{BE041038-DC5E-3162-8C18-6B956ED8BCDD}"/>
              </a:ext>
            </a:extLst>
          </p:cNvPr>
          <p:cNvSpPr txBox="1"/>
          <p:nvPr/>
        </p:nvSpPr>
        <p:spPr>
          <a:xfrm>
            <a:off x="0" y="2654422"/>
            <a:ext cx="12192000" cy="1446550"/>
          </a:xfrm>
          <a:prstGeom prst="rect">
            <a:avLst/>
          </a:prstGeom>
          <a:noFill/>
        </p:spPr>
        <p:txBody>
          <a:bodyPr wrap="square">
            <a:spAutoFit/>
          </a:bodyPr>
          <a:lstStyle/>
          <a:p>
            <a:pPr algn="ctr"/>
            <a:r>
              <a:rPr lang="en-US" sz="8800" dirty="0">
                <a:latin typeface="Agency FB" panose="020B0503020202020204" pitchFamily="34" charset="0"/>
              </a:rPr>
              <a:t>Thank You</a:t>
            </a:r>
          </a:p>
        </p:txBody>
      </p:sp>
    </p:spTree>
    <p:extLst>
      <p:ext uri="{BB962C8B-B14F-4D97-AF65-F5344CB8AC3E}">
        <p14:creationId xmlns:p14="http://schemas.microsoft.com/office/powerpoint/2010/main" val="1508227658"/>
      </p:ext>
    </p:extLst>
  </p:cSld>
  <p:clrMapOvr>
    <a:masterClrMapping/>
  </p:clrMapOvr>
  <p:transition spd="slow">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08A61751152E408E1E19CCABCA2735" ma:contentTypeVersion="6" ma:contentTypeDescription="Create a new document." ma:contentTypeScope="" ma:versionID="871b96339f5b463fb144a391c45900cc">
  <xsd:schema xmlns:xsd="http://www.w3.org/2001/XMLSchema" xmlns:xs="http://www.w3.org/2001/XMLSchema" xmlns:p="http://schemas.microsoft.com/office/2006/metadata/properties" xmlns:ns3="eb9c6fd3-9f55-49f5-8e58-59778a8e5f16" targetNamespace="http://schemas.microsoft.com/office/2006/metadata/properties" ma:root="true" ma:fieldsID="90a480297b6504b7aa692e9ed9419e20" ns3:_="">
    <xsd:import namespace="eb9c6fd3-9f55-49f5-8e58-59778a8e5f16"/>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9c6fd3-9f55-49f5-8e58-59778a8e5f16"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b9c6fd3-9f55-49f5-8e58-59778a8e5f1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D40787-10CB-4384-9B11-7DFD376EB9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9c6fd3-9f55-49f5-8e58-59778a8e5f1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7412F65-ED4E-48B5-88BD-3FB02C9D73F6}">
  <ds:schemaRefs>
    <ds:schemaRef ds:uri="http://purl.org/dc/dcmitype/"/>
    <ds:schemaRef ds:uri="http://purl.org/dc/terms/"/>
    <ds:schemaRef ds:uri="http://schemas.microsoft.com/office/2006/metadata/properties"/>
    <ds:schemaRef ds:uri="eb9c6fd3-9f55-49f5-8e58-59778a8e5f16"/>
    <ds:schemaRef ds:uri="http://schemas.microsoft.com/office/2006/documentManagement/types"/>
    <ds:schemaRef ds:uri="http://schemas.microsoft.com/office/infopath/2007/PartnerControls"/>
    <ds:schemaRef ds:uri="http://www.w3.org/XML/1998/namespace"/>
    <ds:schemaRef ds:uri="http://purl.org/dc/elements/1.1/"/>
    <ds:schemaRef ds:uri="http://schemas.openxmlformats.org/package/2006/metadata/core-properties"/>
  </ds:schemaRefs>
</ds:datastoreItem>
</file>

<file path=customXml/itemProps3.xml><?xml version="1.0" encoding="utf-8"?>
<ds:datastoreItem xmlns:ds="http://schemas.openxmlformats.org/officeDocument/2006/customXml" ds:itemID="{FB4B7841-657A-4B34-8259-617E9ABE4F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Ion</Template>
  <TotalTime>702</TotalTime>
  <Words>2189</Words>
  <Application>Microsoft Office PowerPoint</Application>
  <PresentationFormat>Widescreen</PresentationFormat>
  <Paragraphs>279</Paragraphs>
  <Slides>31</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31</vt:i4>
      </vt:variant>
    </vt:vector>
  </HeadingPairs>
  <TitlesOfParts>
    <vt:vector size="47" baseType="lpstr">
      <vt:lpstr>Abadi</vt:lpstr>
      <vt:lpstr>Agency FB</vt:lpstr>
      <vt:lpstr>AIGDT</vt:lpstr>
      <vt:lpstr>Arial</vt:lpstr>
      <vt:lpstr>Century Gothic</vt:lpstr>
      <vt:lpstr>Consolas</vt:lpstr>
      <vt:lpstr>Courier New</vt:lpstr>
      <vt:lpstr>gg sans</vt:lpstr>
      <vt:lpstr>inherit</vt:lpstr>
      <vt:lpstr>Roboto</vt:lpstr>
      <vt:lpstr>Roboto-Medium</vt:lpstr>
      <vt:lpstr>ui-monospace</vt:lpstr>
      <vt:lpstr>ui-sans-serif</vt:lpstr>
      <vt:lpstr>Wingdings</vt:lpstr>
      <vt:lpstr>Wingdings 3</vt:lpstr>
      <vt:lpstr>Ion</vt:lpstr>
      <vt:lpstr>Obesity Prediction project. </vt:lpstr>
      <vt:lpstr>Libraries </vt:lpstr>
      <vt:lpstr>READING AND COMBINING THE TRAIN AND TEST DATASETS.   </vt:lpstr>
      <vt:lpstr>Display and Rename</vt:lpstr>
      <vt:lpstr>CHECKING NULLS AND DUPLICATED VALUES AND HANDING IT </vt:lpstr>
      <vt:lpstr>FEATURE SELECTION </vt:lpstr>
      <vt:lpstr>PowerPoint Presentation</vt:lpstr>
      <vt:lpstr>Encoding</vt:lpstr>
      <vt:lpstr>MODELS APPLIANCE. </vt:lpstr>
      <vt:lpstr>Logistic Regression Model Performance</vt:lpstr>
      <vt:lpstr>PowerPoint Presentation</vt:lpstr>
      <vt:lpstr>Random Forest Model Performance</vt:lpstr>
      <vt:lpstr>PowerPoint Presentation</vt:lpstr>
      <vt:lpstr>SUPPORT VECTOR MACHINES (SVM) </vt:lpstr>
      <vt:lpstr>PowerPoint Presentation</vt:lpstr>
      <vt:lpstr>K-NEAREST NEIGHBORS (KNN) </vt:lpstr>
      <vt:lpstr>PowerPoint Presentation</vt:lpstr>
      <vt:lpstr>Light Gradient Boosting Classifier (LGBM):</vt:lpstr>
      <vt:lpstr>Gradient Boosting Classifier (cont) :</vt:lpstr>
      <vt:lpstr>Extreme Gradient Boosting (XGBOOST)</vt:lpstr>
      <vt:lpstr>Extreme Gradient Boosting (XGBOOST) (cont):</vt:lpstr>
      <vt:lpstr>VISUALIZATIONS </vt:lpstr>
      <vt:lpstr>VISUALIZATIONS (cont) </vt:lpstr>
      <vt:lpstr>Calculate the correlation matrix.</vt:lpstr>
      <vt:lpstr>Average Weight by obesity Level</vt:lpstr>
      <vt:lpstr>Distribution of weights </vt:lpstr>
      <vt:lpstr>Lifestyle Factor And Obesity </vt:lpstr>
      <vt:lpstr>Lifestyle Factor And Obesity (cont):</vt:lpstr>
      <vt:lpstr>Conclusion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Obesity Prediction project.</dc:title>
  <dc:creator>محمد اشرف جابر عبدالفتاح</dc:creator>
  <cp:lastModifiedBy>MOHAMED SHERIF</cp:lastModifiedBy>
  <cp:revision>12</cp:revision>
  <dcterms:created xsi:type="dcterms:W3CDTF">2025-05-03T15:35:19Z</dcterms:created>
  <dcterms:modified xsi:type="dcterms:W3CDTF">2025-05-18T08:54:30Z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0x0101007608A61751152E408E1E19CCABCA2735</vt:lpwstr>
  </property>
</Properties>
</file>